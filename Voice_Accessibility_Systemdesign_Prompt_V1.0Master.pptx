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1" r:id="rId5"/>
    <p:sldId id="257" r:id="rId6"/>
    <p:sldId id="258" r:id="rId7"/>
    <p:sldId id="264" r:id="rId8"/>
    <p:sldId id="260"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2" d="100"/>
          <a:sy n="72" d="100"/>
        </p:scale>
        <p:origin x="65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713F3-7B52-4F15-88BB-7B08CC1DB7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B0B8A2-C747-44E2-98A0-BD65DC63D2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A30768-887A-46F5-AE8B-714B322C2F84}"/>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5" name="Footer Placeholder 4">
            <a:extLst>
              <a:ext uri="{FF2B5EF4-FFF2-40B4-BE49-F238E27FC236}">
                <a16:creationId xmlns:a16="http://schemas.microsoft.com/office/drawing/2014/main" id="{D83540C9-0919-4867-9CA5-96B009D67A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4D9BF3-CA2E-41C5-9288-C1F810B2E154}"/>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331624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7DCC7-C876-49A0-B900-7EE2ED7BAA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3F6BB9-ED99-4713-A0B0-B98A78078F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B79A58-0789-4E20-AD2B-8E74825A513E}"/>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5" name="Footer Placeholder 4">
            <a:extLst>
              <a:ext uri="{FF2B5EF4-FFF2-40B4-BE49-F238E27FC236}">
                <a16:creationId xmlns:a16="http://schemas.microsoft.com/office/drawing/2014/main" id="{355F4B91-70DA-4535-B295-42CE86985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2B0445-4318-4CFD-BC63-FEF3FCEA2947}"/>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2568106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4D9C3-B12E-4B64-9850-492FBE5437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3E4D39-7498-447C-B860-C7A5949290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FB6DD1-12B8-49DE-9C0E-627CAEC3EA07}"/>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5" name="Footer Placeholder 4">
            <a:extLst>
              <a:ext uri="{FF2B5EF4-FFF2-40B4-BE49-F238E27FC236}">
                <a16:creationId xmlns:a16="http://schemas.microsoft.com/office/drawing/2014/main" id="{3FBD7191-2FD7-4D7D-B2F5-37124A0990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1BB7E-6314-4BEF-9123-0C515E6E7227}"/>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277406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9AB0A-FA85-4E64-A758-77B4999184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7CF06B-06F7-4279-BF23-613B68033C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55486C-F2DE-48C2-B703-11D2F7F752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0AD0A1-30ED-41D3-ACC6-79A1CC09A6B7}"/>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6" name="Footer Placeholder 5">
            <a:extLst>
              <a:ext uri="{FF2B5EF4-FFF2-40B4-BE49-F238E27FC236}">
                <a16:creationId xmlns:a16="http://schemas.microsoft.com/office/drawing/2014/main" id="{400652A1-EDB6-442A-A23A-3FEED5C5C4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22A6D9-4CB1-4A96-9243-0B4AE956B5E8}"/>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1894219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41B05-DFC8-40B3-8EB1-79B115DFCF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47A1C-54B2-491E-9EC7-F827E86724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DAD7A6-173A-401B-B765-8064CAF0C4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BC79EA-BBB6-4712-BAA5-E52A507AA2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9D0F8-1169-4D22-ABF9-560BB66B7B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CFC0EB-DFFA-422A-A1BA-E0C8935EB47C}"/>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8" name="Footer Placeholder 7">
            <a:extLst>
              <a:ext uri="{FF2B5EF4-FFF2-40B4-BE49-F238E27FC236}">
                <a16:creationId xmlns:a16="http://schemas.microsoft.com/office/drawing/2014/main" id="{D420F0DB-943C-4248-89F1-6A17AF70BD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569407-14E0-4B81-803E-C3EEEF921FC1}"/>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1890264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7B43-DD37-458E-94BA-DFE1393AF5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377C21-0722-4C18-8845-5B758EC75A14}"/>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4" name="Footer Placeholder 3">
            <a:extLst>
              <a:ext uri="{FF2B5EF4-FFF2-40B4-BE49-F238E27FC236}">
                <a16:creationId xmlns:a16="http://schemas.microsoft.com/office/drawing/2014/main" id="{8BEB2A7F-E933-4385-A6F0-AC9B22DC48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59AC0C-16AD-424A-99C5-A7B66275C699}"/>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4135857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CF0200-E80B-4B22-84E3-C1B3033CA250}"/>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3" name="Footer Placeholder 2">
            <a:extLst>
              <a:ext uri="{FF2B5EF4-FFF2-40B4-BE49-F238E27FC236}">
                <a16:creationId xmlns:a16="http://schemas.microsoft.com/office/drawing/2014/main" id="{4A18ED49-0840-4334-BC06-0C039AA3DA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F06B9B-F1DC-4550-8148-58FC99569662}"/>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1907178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3B7E8-4F2D-4B71-96C1-377B098FAC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49AA8E-B066-470A-8494-CD70795340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C0FBB7-74F9-43A0-9686-2934676551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D488C7-0907-4D89-9837-D2D84873A9E0}"/>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6" name="Footer Placeholder 5">
            <a:extLst>
              <a:ext uri="{FF2B5EF4-FFF2-40B4-BE49-F238E27FC236}">
                <a16:creationId xmlns:a16="http://schemas.microsoft.com/office/drawing/2014/main" id="{53E70640-FD45-408F-96B5-A5EA55B1B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EADB19-6289-44C0-BE8D-0F5D5097F587}"/>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2116520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5DE9-3341-4D8D-BCB1-E74C00ADA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6B04-F3FD-4877-9E5C-B2FF2B5CB6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6A0A0F-2339-4E99-9905-3440F44A6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EED6E-7278-4DA0-B98C-665E3A2DC49F}"/>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6" name="Footer Placeholder 5">
            <a:extLst>
              <a:ext uri="{FF2B5EF4-FFF2-40B4-BE49-F238E27FC236}">
                <a16:creationId xmlns:a16="http://schemas.microsoft.com/office/drawing/2014/main" id="{7FA3E226-DB2A-4433-9409-98F35BB753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D0C7BF-86B5-4BEE-A950-D5BBB3C01E79}"/>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2627292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B7A60-184B-4C08-8F6E-6CC5BCA6DA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4C3750-1397-404A-A030-A575132B67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D2550-0737-4AEB-8DAB-19120A6A0977}"/>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5" name="Footer Placeholder 4">
            <a:extLst>
              <a:ext uri="{FF2B5EF4-FFF2-40B4-BE49-F238E27FC236}">
                <a16:creationId xmlns:a16="http://schemas.microsoft.com/office/drawing/2014/main" id="{8F3F09D6-2789-4E36-BFC8-3109640E5D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352205-0EA9-48A1-B17D-DC3647D55927}"/>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4012936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3AA6C4-F5EE-4732-91A8-1367F7A1CA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BF8AB9-3267-4AEE-B920-B912C65946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9AD2C9-9947-48EA-993F-B87B1E503327}"/>
              </a:ext>
            </a:extLst>
          </p:cNvPr>
          <p:cNvSpPr>
            <a:spLocks noGrp="1"/>
          </p:cNvSpPr>
          <p:nvPr>
            <p:ph type="dt" sz="half" idx="10"/>
          </p:nvPr>
        </p:nvSpPr>
        <p:spPr/>
        <p:txBody>
          <a:bodyPr/>
          <a:lstStyle/>
          <a:p>
            <a:fld id="{B6ED4EB3-C7E7-4AEA-9746-A251140894E0}" type="datetimeFigureOut">
              <a:rPr lang="en-US" smtClean="0"/>
              <a:t>7/16/2026</a:t>
            </a:fld>
            <a:endParaRPr lang="en-US"/>
          </a:p>
        </p:txBody>
      </p:sp>
      <p:sp>
        <p:nvSpPr>
          <p:cNvPr id="5" name="Footer Placeholder 4">
            <a:extLst>
              <a:ext uri="{FF2B5EF4-FFF2-40B4-BE49-F238E27FC236}">
                <a16:creationId xmlns:a16="http://schemas.microsoft.com/office/drawing/2014/main" id="{9F931608-C165-4073-B03B-38E079B65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FCFC97-CA7C-4504-A533-F8AC08C13B53}"/>
              </a:ext>
            </a:extLst>
          </p:cNvPr>
          <p:cNvSpPr>
            <a:spLocks noGrp="1"/>
          </p:cNvSpPr>
          <p:nvPr>
            <p:ph type="sldNum" sz="quarter" idx="12"/>
          </p:nvPr>
        </p:nvSpPr>
        <p:spPr/>
        <p:txBody>
          <a:bodyPr/>
          <a:lstStyle/>
          <a:p>
            <a:fld id="{975360E3-522F-4CF2-A2B7-27BA2B4DFA92}" type="slidenum">
              <a:rPr lang="en-US" smtClean="0"/>
              <a:t>‹#›</a:t>
            </a:fld>
            <a:endParaRPr lang="en-US"/>
          </a:p>
        </p:txBody>
      </p:sp>
    </p:spTree>
    <p:extLst>
      <p:ext uri="{BB962C8B-B14F-4D97-AF65-F5344CB8AC3E}">
        <p14:creationId xmlns:p14="http://schemas.microsoft.com/office/powerpoint/2010/main" val="2634862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EA8479-0428-45E0-AF10-171FEB1DB4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CA0F16-E29C-4779-9791-6D605783AC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608E07-DCA1-4AEC-80C4-145FCF36E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ED4EB3-C7E7-4AEA-9746-A251140894E0}" type="datetimeFigureOut">
              <a:rPr lang="en-US" smtClean="0"/>
              <a:t>7/16/2026</a:t>
            </a:fld>
            <a:endParaRPr lang="en-US"/>
          </a:p>
        </p:txBody>
      </p:sp>
      <p:sp>
        <p:nvSpPr>
          <p:cNvPr id="5" name="Footer Placeholder 4">
            <a:extLst>
              <a:ext uri="{FF2B5EF4-FFF2-40B4-BE49-F238E27FC236}">
                <a16:creationId xmlns:a16="http://schemas.microsoft.com/office/drawing/2014/main" id="{467FB440-F436-477B-83E2-7D711A786A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65519B-32C3-4028-A58D-D41397434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5360E3-522F-4CF2-A2B7-27BA2B4DFA92}" type="slidenum">
              <a:rPr lang="en-US" smtClean="0"/>
              <a:t>‹#›</a:t>
            </a:fld>
            <a:endParaRPr lang="en-US"/>
          </a:p>
        </p:txBody>
      </p:sp>
    </p:spTree>
    <p:extLst>
      <p:ext uri="{BB962C8B-B14F-4D97-AF65-F5344CB8AC3E}">
        <p14:creationId xmlns:p14="http://schemas.microsoft.com/office/powerpoint/2010/main" val="1003903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09C5D684-2F2C-4BEF-8112-25E59B7A9CF4}"/>
              </a:ext>
            </a:extLst>
          </p:cNvPr>
          <p:cNvSpPr>
            <a:spLocks noGrp="1"/>
          </p:cNvSpPr>
          <p:nvPr>
            <p:ph type="ctrTitle"/>
          </p:nvPr>
        </p:nvSpPr>
        <p:spPr>
          <a:xfrm>
            <a:off x="0" y="1"/>
            <a:ext cx="12192000" cy="377550"/>
          </a:xfrm>
          <a:solidFill>
            <a:schemeClr val="accent2"/>
          </a:solidFill>
        </p:spPr>
        <p:txBody>
          <a:bodyPr>
            <a:normAutofit fontScale="90000"/>
          </a:bodyPr>
          <a:lstStyle/>
          <a:p>
            <a:r>
              <a:rPr lang="en-US" sz="2400" b="1" dirty="0">
                <a:solidFill>
                  <a:schemeClr val="bg1"/>
                </a:solidFill>
              </a:rPr>
              <a:t>Voice Accessible Web Application : Requirement Document </a:t>
            </a:r>
          </a:p>
        </p:txBody>
      </p:sp>
      <p:sp>
        <p:nvSpPr>
          <p:cNvPr id="8" name="TextBox 7">
            <a:extLst>
              <a:ext uri="{FF2B5EF4-FFF2-40B4-BE49-F238E27FC236}">
                <a16:creationId xmlns:a16="http://schemas.microsoft.com/office/drawing/2014/main" id="{54F0708F-1A7D-414C-8117-C80F363E2CDD}"/>
              </a:ext>
            </a:extLst>
          </p:cNvPr>
          <p:cNvSpPr txBox="1"/>
          <p:nvPr/>
        </p:nvSpPr>
        <p:spPr>
          <a:xfrm>
            <a:off x="145774" y="477082"/>
            <a:ext cx="11887200" cy="5478423"/>
          </a:xfrm>
          <a:prstGeom prst="rect">
            <a:avLst/>
          </a:prstGeom>
          <a:noFill/>
        </p:spPr>
        <p:txBody>
          <a:bodyPr wrap="square" rtlCol="0">
            <a:spAutoFit/>
          </a:bodyPr>
          <a:lstStyle/>
          <a:p>
            <a:r>
              <a:rPr lang="en-US" sz="1400" b="1" dirty="0"/>
              <a:t>Context</a:t>
            </a:r>
            <a:r>
              <a:rPr lang="en-US" sz="1400" dirty="0"/>
              <a:t>: I am in a AI hackathon with theme “Voice Accessibility” where I have to build a voice enabled web application for a given problem statement (use case) in 4 hours. Voice accessibility is about designing systems, products and services that can understand and support diverse users across speech patterns, languages, accents, communication style and real world conditions. PAS is a voice accessibility standard that provides guidance for designing voice enabled systems. </a:t>
            </a:r>
          </a:p>
          <a:p>
            <a:endParaRPr lang="en-US" sz="1400" dirty="0"/>
          </a:p>
          <a:p>
            <a:r>
              <a:rPr lang="en-US" sz="1400" b="1" dirty="0"/>
              <a:t>Role</a:t>
            </a:r>
            <a:r>
              <a:rPr lang="en-US" sz="1400" dirty="0"/>
              <a:t>: Play the role of a GenAI expert specialized on application development and architecture design for voice enabled web applications in various industry domains. I am an Enterprise Architect. You are my copilot who will be building a production quality prototype web application on the given use-case without deviating some instructions given by me. You are free to evaluate my strategies, suggest augmentations to make it better.   </a:t>
            </a:r>
          </a:p>
          <a:p>
            <a:endParaRPr lang="en-US" sz="1400" dirty="0"/>
          </a:p>
          <a:p>
            <a:r>
              <a:rPr lang="en-US" sz="1400" b="1" dirty="0"/>
              <a:t>Constraints</a:t>
            </a:r>
            <a:r>
              <a:rPr lang="en-US" sz="1400" dirty="0"/>
              <a:t>: I am not a developer and have very minimal knowledge of python coding. You have to help me step by step to build and launch the application. </a:t>
            </a:r>
          </a:p>
          <a:p>
            <a:endParaRPr lang="en-US" sz="1400" dirty="0"/>
          </a:p>
          <a:p>
            <a:r>
              <a:rPr lang="en-US" sz="1400" b="1" dirty="0"/>
              <a:t>Instructions: </a:t>
            </a:r>
          </a:p>
          <a:p>
            <a:pPr marL="342900" indent="-342900">
              <a:buAutoNum type="arabicPeriod"/>
            </a:pPr>
            <a:r>
              <a:rPr lang="en-US" sz="1400" b="1" dirty="0"/>
              <a:t>Standard alignment:</a:t>
            </a:r>
            <a:r>
              <a:rPr lang="en-US" sz="1400" dirty="0"/>
              <a:t> PAS 901:2025 — Vocal Accessibility in System Design : Please refer some of the clauses of PAS as detailed in the subsequent slides ( Hope you will identify the right slide. In case of trouble, please ask me). </a:t>
            </a:r>
          </a:p>
          <a:p>
            <a:pPr marL="342900" indent="-342900">
              <a:buAutoNum type="arabicPeriod"/>
            </a:pPr>
            <a:r>
              <a:rPr lang="en-US" sz="1400" b="1" dirty="0"/>
              <a:t>Tech stack, frameworks, libraries, models </a:t>
            </a:r>
            <a:r>
              <a:rPr lang="en-US" sz="1400" dirty="0"/>
              <a:t>: Python, </a:t>
            </a:r>
            <a:r>
              <a:rPr lang="en-US" sz="1400" dirty="0" err="1"/>
              <a:t>Pipecat</a:t>
            </a:r>
            <a:r>
              <a:rPr lang="en-US" sz="1400" dirty="0"/>
              <a:t> as orchestrator, </a:t>
            </a:r>
            <a:r>
              <a:rPr lang="en-US" sz="1400" dirty="0" err="1"/>
              <a:t>Deepgram</a:t>
            </a:r>
            <a:r>
              <a:rPr lang="en-US" sz="1400" dirty="0"/>
              <a:t> For STT &amp; TTS, GPT 4.0 or similar as LLM, React for UI development. Please make use of other necessary components as appropriate (like: vector </a:t>
            </a:r>
            <a:r>
              <a:rPr lang="en-US" sz="1400" dirty="0" err="1"/>
              <a:t>db</a:t>
            </a:r>
            <a:r>
              <a:rPr lang="en-US" sz="1400" dirty="0"/>
              <a:t>, </a:t>
            </a:r>
            <a:r>
              <a:rPr lang="en-US" sz="1400" dirty="0" err="1"/>
              <a:t>sql</a:t>
            </a:r>
            <a:r>
              <a:rPr lang="en-US" sz="1400" dirty="0"/>
              <a:t> lite </a:t>
            </a:r>
            <a:r>
              <a:rPr lang="en-US" sz="1400" dirty="0" err="1"/>
              <a:t>db</a:t>
            </a:r>
            <a:r>
              <a:rPr lang="en-US" sz="1400" dirty="0"/>
              <a:t> for data store requirements ). </a:t>
            </a:r>
          </a:p>
          <a:p>
            <a:pPr marL="342900" indent="-342900">
              <a:buAutoNum type="arabicPeriod"/>
            </a:pPr>
            <a:r>
              <a:rPr lang="en-US" sz="1400" b="1" dirty="0"/>
              <a:t>High level architecture guidelines: </a:t>
            </a:r>
            <a:r>
              <a:rPr lang="en-US" sz="1400" dirty="0"/>
              <a:t>Please refer High level architecture guidelines in the subsequent slides/sections.  </a:t>
            </a:r>
          </a:p>
          <a:p>
            <a:pPr marL="342900" indent="-342900">
              <a:buAutoNum type="arabicPeriod"/>
            </a:pPr>
            <a:r>
              <a:rPr lang="en-US" sz="1400" b="1" dirty="0"/>
              <a:t>Test case preparation and execution: </a:t>
            </a:r>
            <a:r>
              <a:rPr lang="en-US" sz="1400" dirty="0"/>
              <a:t>After the application is built, please prepare minimum 20 test cases including functional and non-functional, auto execute the test cases and generate a test execution report. For demonstration of the application to the juries minimum 95% tests should be successful. </a:t>
            </a:r>
          </a:p>
          <a:p>
            <a:pPr marL="342900" indent="-342900">
              <a:buAutoNum type="arabicPeriod"/>
            </a:pPr>
            <a:r>
              <a:rPr lang="en-US" sz="1400" b="1" dirty="0"/>
              <a:t>Executive presentation: </a:t>
            </a:r>
            <a:r>
              <a:rPr lang="en-US" sz="1400" dirty="0"/>
              <a:t>After the application build is successful, test cases are passed with 95% or above, with an approval from me(HITL), please generate an executive presentation of maximum 5 slides that  should include – (</a:t>
            </a:r>
            <a:r>
              <a:rPr lang="en-US" sz="1400" dirty="0" err="1"/>
              <a:t>i</a:t>
            </a:r>
            <a:r>
              <a:rPr lang="en-US" sz="1400" dirty="0"/>
              <a:t>) Use-case description in brief, (ii) High level workflow of the entire solution with input , output , tech stacks , processing engines(orchestrator, STT,TSS, LLM layer etc.) (iii) Some interesting data points related to the application builds, for example: approx. application build time, approx. cost of application build, application response time, no. of test cases passed (iv)business value articulation</a:t>
            </a:r>
          </a:p>
          <a:p>
            <a:pPr marL="342900" indent="-342900">
              <a:buFontTx/>
              <a:buAutoNum type="arabicPeriod"/>
            </a:pPr>
            <a:r>
              <a:rPr lang="en-US" sz="1400" b="1" dirty="0"/>
              <a:t>Use case: </a:t>
            </a:r>
            <a:r>
              <a:rPr lang="en-US" sz="1400" dirty="0"/>
              <a:t>I’ll attach the problem statement (i.e. use case) separately or paste in some subsequent slides. Please ask me if you are unable to identify or understand the use-case. You need to decompose the use case and tell me how you want to build with the mentioned tech stack ,frameworks and high level architecture guidelines and I alignment with the standards.</a:t>
            </a:r>
          </a:p>
        </p:txBody>
      </p:sp>
    </p:spTree>
    <p:extLst>
      <p:ext uri="{BB962C8B-B14F-4D97-AF65-F5344CB8AC3E}">
        <p14:creationId xmlns:p14="http://schemas.microsoft.com/office/powerpoint/2010/main" val="1815049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09C5D684-2F2C-4BEF-8112-25E59B7A9CF4}"/>
              </a:ext>
            </a:extLst>
          </p:cNvPr>
          <p:cNvSpPr>
            <a:spLocks noGrp="1"/>
          </p:cNvSpPr>
          <p:nvPr>
            <p:ph type="ctrTitle"/>
          </p:nvPr>
        </p:nvSpPr>
        <p:spPr>
          <a:xfrm>
            <a:off x="0" y="1"/>
            <a:ext cx="12192000" cy="377550"/>
          </a:xfrm>
          <a:solidFill>
            <a:schemeClr val="accent2"/>
          </a:solidFill>
        </p:spPr>
        <p:txBody>
          <a:bodyPr>
            <a:normAutofit fontScale="90000"/>
          </a:bodyPr>
          <a:lstStyle/>
          <a:p>
            <a:r>
              <a:rPr lang="en-US" sz="2400" b="1" dirty="0">
                <a:solidFill>
                  <a:schemeClr val="bg1"/>
                </a:solidFill>
              </a:rPr>
              <a:t>Standard alignment: Sample Clauses of PAS Guidelines</a:t>
            </a:r>
          </a:p>
        </p:txBody>
      </p:sp>
      <p:graphicFrame>
        <p:nvGraphicFramePr>
          <p:cNvPr id="2" name="Table 1">
            <a:extLst>
              <a:ext uri="{FF2B5EF4-FFF2-40B4-BE49-F238E27FC236}">
                <a16:creationId xmlns:a16="http://schemas.microsoft.com/office/drawing/2014/main" id="{0770917E-7A7E-448C-BA2D-3AE025226BD6}"/>
              </a:ext>
            </a:extLst>
          </p:cNvPr>
          <p:cNvGraphicFramePr>
            <a:graphicFrameLocks noGrp="1"/>
          </p:cNvGraphicFramePr>
          <p:nvPr>
            <p:extLst>
              <p:ext uri="{D42A27DB-BD31-4B8C-83A1-F6EECF244321}">
                <p14:modId xmlns:p14="http://schemas.microsoft.com/office/powerpoint/2010/main" val="1588790818"/>
              </p:ext>
            </p:extLst>
          </p:nvPr>
        </p:nvGraphicFramePr>
        <p:xfrm>
          <a:off x="596348" y="784859"/>
          <a:ext cx="10946295" cy="4370227"/>
        </p:xfrm>
        <a:graphic>
          <a:graphicData uri="http://schemas.openxmlformats.org/drawingml/2006/table">
            <a:tbl>
              <a:tblPr/>
              <a:tblGrid>
                <a:gridCol w="3648765">
                  <a:extLst>
                    <a:ext uri="{9D8B030D-6E8A-4147-A177-3AD203B41FA5}">
                      <a16:colId xmlns:a16="http://schemas.microsoft.com/office/drawing/2014/main" val="1654391"/>
                    </a:ext>
                  </a:extLst>
                </a:gridCol>
                <a:gridCol w="3648765">
                  <a:extLst>
                    <a:ext uri="{9D8B030D-6E8A-4147-A177-3AD203B41FA5}">
                      <a16:colId xmlns:a16="http://schemas.microsoft.com/office/drawing/2014/main" val="3472914468"/>
                    </a:ext>
                  </a:extLst>
                </a:gridCol>
                <a:gridCol w="3648765">
                  <a:extLst>
                    <a:ext uri="{9D8B030D-6E8A-4147-A177-3AD203B41FA5}">
                      <a16:colId xmlns:a16="http://schemas.microsoft.com/office/drawing/2014/main" val="2363632714"/>
                    </a:ext>
                  </a:extLst>
                </a:gridCol>
              </a:tblGrid>
              <a:tr h="322321">
                <a:tc>
                  <a:txBody>
                    <a:bodyPr/>
                    <a:lstStyle/>
                    <a:p>
                      <a:r>
                        <a:rPr lang="en-US" sz="1600" b="1"/>
                        <a:t>Behavior</a:t>
                      </a:r>
                    </a:p>
                  </a:txBody>
                  <a:tcPr marL="80580" marR="80580" marT="40290" marB="40290" anchor="ctr">
                    <a:lnL>
                      <a:noFill/>
                    </a:lnL>
                    <a:lnR>
                      <a:noFill/>
                    </a:lnR>
                    <a:lnT>
                      <a:noFill/>
                    </a:lnT>
                    <a:lnB>
                      <a:noFill/>
                    </a:lnB>
                  </a:tcPr>
                </a:tc>
                <a:tc>
                  <a:txBody>
                    <a:bodyPr/>
                    <a:lstStyle/>
                    <a:p>
                      <a:r>
                        <a:rPr lang="en-US" sz="1600" b="1"/>
                        <a:t>Clause</a:t>
                      </a:r>
                    </a:p>
                  </a:txBody>
                  <a:tcPr marL="80580" marR="80580" marT="40290" marB="40290" anchor="ctr">
                    <a:lnL>
                      <a:noFill/>
                    </a:lnL>
                    <a:lnR>
                      <a:noFill/>
                    </a:lnR>
                    <a:lnT>
                      <a:noFill/>
                    </a:lnT>
                    <a:lnB>
                      <a:noFill/>
                    </a:lnB>
                  </a:tcPr>
                </a:tc>
                <a:tc>
                  <a:txBody>
                    <a:bodyPr/>
                    <a:lstStyle/>
                    <a:p>
                      <a:r>
                        <a:rPr lang="en-US" sz="1600" b="1" dirty="0"/>
                        <a:t>Where it applies</a:t>
                      </a:r>
                    </a:p>
                  </a:txBody>
                  <a:tcPr marL="80580" marR="80580" marT="40290" marB="40290" anchor="ctr">
                    <a:lnL>
                      <a:noFill/>
                    </a:lnL>
                    <a:lnR>
                      <a:noFill/>
                    </a:lnR>
                    <a:lnT>
                      <a:noFill/>
                    </a:lnT>
                    <a:lnB>
                      <a:noFill/>
                    </a:lnB>
                  </a:tcPr>
                </a:tc>
                <a:extLst>
                  <a:ext uri="{0D108BD9-81ED-4DB2-BD59-A6C34878D82A}">
                    <a16:rowId xmlns:a16="http://schemas.microsoft.com/office/drawing/2014/main" val="739535836"/>
                  </a:ext>
                </a:extLst>
              </a:tr>
              <a:tr h="805803">
                <a:tc>
                  <a:txBody>
                    <a:bodyPr/>
                    <a:lstStyle/>
                    <a:p>
                      <a:r>
                        <a:rPr lang="en-US" sz="1600"/>
                        <a:t>Wait 4–5 seconds of silence before assuming speech is finished; show "Still listening..."</a:t>
                      </a:r>
                    </a:p>
                  </a:txBody>
                  <a:tcPr marL="80580" marR="80580" marT="40290" marB="40290" anchor="ctr">
                    <a:lnL>
                      <a:noFill/>
                    </a:lnL>
                    <a:lnR>
                      <a:noFill/>
                    </a:lnR>
                    <a:lnT>
                      <a:noFill/>
                    </a:lnT>
                    <a:lnB>
                      <a:noFill/>
                    </a:lnB>
                  </a:tcPr>
                </a:tc>
                <a:tc>
                  <a:txBody>
                    <a:bodyPr/>
                    <a:lstStyle/>
                    <a:p>
                      <a:r>
                        <a:rPr lang="en-US" sz="1600"/>
                        <a:t>5.4.16</a:t>
                      </a:r>
                    </a:p>
                  </a:txBody>
                  <a:tcPr marL="80580" marR="80580" marT="40290" marB="40290" anchor="ctr">
                    <a:lnL>
                      <a:noFill/>
                    </a:lnL>
                    <a:lnR>
                      <a:noFill/>
                    </a:lnR>
                    <a:lnT>
                      <a:noFill/>
                    </a:lnT>
                    <a:lnB>
                      <a:noFill/>
                    </a:lnB>
                  </a:tcPr>
                </a:tc>
                <a:tc>
                  <a:txBody>
                    <a:bodyPr/>
                    <a:lstStyle/>
                    <a:p>
                      <a:r>
                        <a:rPr lang="en-US" sz="1600"/>
                        <a:t>Every voice input point</a:t>
                      </a:r>
                    </a:p>
                  </a:txBody>
                  <a:tcPr marL="80580" marR="80580" marT="40290" marB="40290" anchor="ctr">
                    <a:lnL>
                      <a:noFill/>
                    </a:lnL>
                    <a:lnR>
                      <a:noFill/>
                    </a:lnR>
                    <a:lnT>
                      <a:noFill/>
                    </a:lnT>
                    <a:lnB>
                      <a:noFill/>
                    </a:lnB>
                  </a:tcPr>
                </a:tc>
                <a:extLst>
                  <a:ext uri="{0D108BD9-81ED-4DB2-BD59-A6C34878D82A}">
                    <a16:rowId xmlns:a16="http://schemas.microsoft.com/office/drawing/2014/main" val="1960526947"/>
                  </a:ext>
                </a:extLst>
              </a:tr>
              <a:tr h="805803">
                <a:tc>
                  <a:txBody>
                    <a:bodyPr/>
                    <a:lstStyle/>
                    <a:p>
                      <a:r>
                        <a:rPr lang="en-US" sz="1600"/>
                        <a:t>Always show a text-input alternative alongside every voice prompt</a:t>
                      </a:r>
                    </a:p>
                  </a:txBody>
                  <a:tcPr marL="80580" marR="80580" marT="40290" marB="40290" anchor="ctr">
                    <a:lnL>
                      <a:noFill/>
                    </a:lnL>
                    <a:lnR>
                      <a:noFill/>
                    </a:lnR>
                    <a:lnT>
                      <a:noFill/>
                    </a:lnT>
                    <a:lnB>
                      <a:noFill/>
                    </a:lnB>
                  </a:tcPr>
                </a:tc>
                <a:tc>
                  <a:txBody>
                    <a:bodyPr/>
                    <a:lstStyle/>
                    <a:p>
                      <a:r>
                        <a:rPr lang="en-US" sz="1600"/>
                        <a:t>5.1.1</a:t>
                      </a:r>
                    </a:p>
                  </a:txBody>
                  <a:tcPr marL="80580" marR="80580" marT="40290" marB="40290" anchor="ctr">
                    <a:lnL>
                      <a:noFill/>
                    </a:lnL>
                    <a:lnR>
                      <a:noFill/>
                    </a:lnR>
                    <a:lnT>
                      <a:noFill/>
                    </a:lnT>
                    <a:lnB>
                      <a:noFill/>
                    </a:lnB>
                  </a:tcPr>
                </a:tc>
                <a:tc>
                  <a:txBody>
                    <a:bodyPr/>
                    <a:lstStyle/>
                    <a:p>
                      <a:r>
                        <a:rPr lang="en-US" sz="1600"/>
                        <a:t>Every screen with a voice prompt</a:t>
                      </a:r>
                    </a:p>
                  </a:txBody>
                  <a:tcPr marL="80580" marR="80580" marT="40290" marB="40290" anchor="ctr">
                    <a:lnL>
                      <a:noFill/>
                    </a:lnL>
                    <a:lnR>
                      <a:noFill/>
                    </a:lnR>
                    <a:lnT>
                      <a:noFill/>
                    </a:lnT>
                    <a:lnB>
                      <a:noFill/>
                    </a:lnB>
                  </a:tcPr>
                </a:tc>
                <a:extLst>
                  <a:ext uri="{0D108BD9-81ED-4DB2-BD59-A6C34878D82A}">
                    <a16:rowId xmlns:a16="http://schemas.microsoft.com/office/drawing/2014/main" val="1206968895"/>
                  </a:ext>
                </a:extLst>
              </a:tr>
              <a:tr h="805803">
                <a:tc>
                  <a:txBody>
                    <a:bodyPr/>
                    <a:lstStyle/>
                    <a:p>
                      <a:r>
                        <a:rPr lang="en-US" sz="1600"/>
                        <a:t>On medium-confidence matches, confirm back to the user rather than silently rejecting</a:t>
                      </a:r>
                    </a:p>
                  </a:txBody>
                  <a:tcPr marL="80580" marR="80580" marT="40290" marB="40290" anchor="ctr">
                    <a:lnL>
                      <a:noFill/>
                    </a:lnL>
                    <a:lnR>
                      <a:noFill/>
                    </a:lnR>
                    <a:lnT>
                      <a:noFill/>
                    </a:lnT>
                    <a:lnB>
                      <a:noFill/>
                    </a:lnB>
                  </a:tcPr>
                </a:tc>
                <a:tc>
                  <a:txBody>
                    <a:bodyPr/>
                    <a:lstStyle/>
                    <a:p>
                      <a:r>
                        <a:rPr lang="en-US" sz="1600"/>
                        <a:t>5.5.4</a:t>
                      </a:r>
                    </a:p>
                  </a:txBody>
                  <a:tcPr marL="80580" marR="80580" marT="40290" marB="40290" anchor="ctr">
                    <a:lnL>
                      <a:noFill/>
                    </a:lnL>
                    <a:lnR>
                      <a:noFill/>
                    </a:lnR>
                    <a:lnT>
                      <a:noFill/>
                    </a:lnT>
                    <a:lnB>
                      <a:noFill/>
                    </a:lnB>
                  </a:tcPr>
                </a:tc>
                <a:tc>
                  <a:txBody>
                    <a:bodyPr/>
                    <a:lstStyle/>
                    <a:p>
                      <a:r>
                        <a:rPr lang="en-US" sz="1600"/>
                        <a:t>Voice sample match, knowledge answers</a:t>
                      </a:r>
                    </a:p>
                  </a:txBody>
                  <a:tcPr marL="80580" marR="80580" marT="40290" marB="40290" anchor="ctr">
                    <a:lnL>
                      <a:noFill/>
                    </a:lnL>
                    <a:lnR>
                      <a:noFill/>
                    </a:lnR>
                    <a:lnT>
                      <a:noFill/>
                    </a:lnT>
                    <a:lnB>
                      <a:noFill/>
                    </a:lnB>
                  </a:tcPr>
                </a:tc>
                <a:extLst>
                  <a:ext uri="{0D108BD9-81ED-4DB2-BD59-A6C34878D82A}">
                    <a16:rowId xmlns:a16="http://schemas.microsoft.com/office/drawing/2014/main" val="411125742"/>
                  </a:ext>
                </a:extLst>
              </a:tr>
              <a:tr h="564062">
                <a:tc>
                  <a:txBody>
                    <a:bodyPr/>
                    <a:lstStyle/>
                    <a:p>
                      <a:r>
                        <a:rPr lang="en-US" sz="1600"/>
                        <a:t>Offer a fallback after repeated failure instead of a dead end</a:t>
                      </a:r>
                    </a:p>
                  </a:txBody>
                  <a:tcPr marL="80580" marR="80580" marT="40290" marB="40290" anchor="ctr">
                    <a:lnL>
                      <a:noFill/>
                    </a:lnL>
                    <a:lnR>
                      <a:noFill/>
                    </a:lnR>
                    <a:lnT>
                      <a:noFill/>
                    </a:lnT>
                    <a:lnB>
                      <a:noFill/>
                    </a:lnB>
                  </a:tcPr>
                </a:tc>
                <a:tc>
                  <a:txBody>
                    <a:bodyPr/>
                    <a:lstStyle/>
                    <a:p>
                      <a:r>
                        <a:rPr lang="en-US" sz="1600"/>
                        <a:t>5.4.9</a:t>
                      </a:r>
                    </a:p>
                  </a:txBody>
                  <a:tcPr marL="80580" marR="80580" marT="40290" marB="40290" anchor="ctr">
                    <a:lnL>
                      <a:noFill/>
                    </a:lnL>
                    <a:lnR>
                      <a:noFill/>
                    </a:lnR>
                    <a:lnT>
                      <a:noFill/>
                    </a:lnT>
                    <a:lnB>
                      <a:noFill/>
                    </a:lnB>
                  </a:tcPr>
                </a:tc>
                <a:tc>
                  <a:txBody>
                    <a:bodyPr/>
                    <a:lstStyle/>
                    <a:p>
                      <a:r>
                        <a:rPr lang="en-US" sz="1600"/>
                        <a:t>3-strike voice retry → secret code path</a:t>
                      </a:r>
                    </a:p>
                  </a:txBody>
                  <a:tcPr marL="80580" marR="80580" marT="40290" marB="40290" anchor="ctr">
                    <a:lnL>
                      <a:noFill/>
                    </a:lnL>
                    <a:lnR>
                      <a:noFill/>
                    </a:lnR>
                    <a:lnT>
                      <a:noFill/>
                    </a:lnT>
                    <a:lnB>
                      <a:noFill/>
                    </a:lnB>
                  </a:tcPr>
                </a:tc>
                <a:extLst>
                  <a:ext uri="{0D108BD9-81ED-4DB2-BD59-A6C34878D82A}">
                    <a16:rowId xmlns:a16="http://schemas.microsoft.com/office/drawing/2014/main" val="3848573433"/>
                  </a:ext>
                </a:extLst>
              </a:tr>
              <a:tr h="1047544">
                <a:tc>
                  <a:txBody>
                    <a:bodyPr/>
                    <a:lstStyle/>
                    <a:p>
                      <a:r>
                        <a:rPr lang="en-US" sz="1600"/>
                        <a:t>Equal recognition accuracy regardless of speech pattern (design intent, not literally testable in a mock)</a:t>
                      </a:r>
                    </a:p>
                  </a:txBody>
                  <a:tcPr marL="80580" marR="80580" marT="40290" marB="40290" anchor="ctr">
                    <a:lnL>
                      <a:noFill/>
                    </a:lnL>
                    <a:lnR>
                      <a:noFill/>
                    </a:lnR>
                    <a:lnT>
                      <a:noFill/>
                    </a:lnT>
                    <a:lnB>
                      <a:noFill/>
                    </a:lnB>
                  </a:tcPr>
                </a:tc>
                <a:tc>
                  <a:txBody>
                    <a:bodyPr/>
                    <a:lstStyle/>
                    <a:p>
                      <a:r>
                        <a:rPr lang="en-US" sz="1600"/>
                        <a:t>5.3.6</a:t>
                      </a:r>
                    </a:p>
                  </a:txBody>
                  <a:tcPr marL="80580" marR="80580" marT="40290" marB="40290" anchor="ctr">
                    <a:lnL>
                      <a:noFill/>
                    </a:lnL>
                    <a:lnR>
                      <a:noFill/>
                    </a:lnR>
                    <a:lnT>
                      <a:noFill/>
                    </a:lnT>
                    <a:lnB>
                      <a:noFill/>
                    </a:lnB>
                  </a:tcPr>
                </a:tc>
                <a:tc>
                  <a:txBody>
                    <a:bodyPr/>
                    <a:lstStyle/>
                    <a:p>
                      <a:r>
                        <a:rPr lang="en-US" sz="1600" dirty="0"/>
                        <a:t>Overall system framing — mention in pitch</a:t>
                      </a:r>
                    </a:p>
                  </a:txBody>
                  <a:tcPr marL="80580" marR="80580" marT="40290" marB="40290" anchor="ctr">
                    <a:lnL>
                      <a:noFill/>
                    </a:lnL>
                    <a:lnR>
                      <a:noFill/>
                    </a:lnR>
                    <a:lnT>
                      <a:noFill/>
                    </a:lnT>
                    <a:lnB>
                      <a:noFill/>
                    </a:lnB>
                  </a:tcPr>
                </a:tc>
                <a:extLst>
                  <a:ext uri="{0D108BD9-81ED-4DB2-BD59-A6C34878D82A}">
                    <a16:rowId xmlns:a16="http://schemas.microsoft.com/office/drawing/2014/main" val="1525583305"/>
                  </a:ext>
                </a:extLst>
              </a:tr>
            </a:tbl>
          </a:graphicData>
        </a:graphic>
      </p:graphicFrame>
    </p:spTree>
    <p:extLst>
      <p:ext uri="{BB962C8B-B14F-4D97-AF65-F5344CB8AC3E}">
        <p14:creationId xmlns:p14="http://schemas.microsoft.com/office/powerpoint/2010/main" val="1691224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09C5D684-2F2C-4BEF-8112-25E59B7A9CF4}"/>
              </a:ext>
            </a:extLst>
          </p:cNvPr>
          <p:cNvSpPr>
            <a:spLocks noGrp="1"/>
          </p:cNvSpPr>
          <p:nvPr>
            <p:ph type="ctrTitle"/>
          </p:nvPr>
        </p:nvSpPr>
        <p:spPr>
          <a:xfrm>
            <a:off x="0" y="1"/>
            <a:ext cx="12192000" cy="377550"/>
          </a:xfrm>
          <a:solidFill>
            <a:schemeClr val="accent2"/>
          </a:solidFill>
        </p:spPr>
        <p:txBody>
          <a:bodyPr>
            <a:normAutofit fontScale="90000"/>
          </a:bodyPr>
          <a:lstStyle/>
          <a:p>
            <a:r>
              <a:rPr lang="en-US" sz="2400" b="1" dirty="0">
                <a:solidFill>
                  <a:schemeClr val="bg1"/>
                </a:solidFill>
              </a:rPr>
              <a:t>High Level Architecture Guideline</a:t>
            </a:r>
          </a:p>
        </p:txBody>
      </p:sp>
      <p:sp>
        <p:nvSpPr>
          <p:cNvPr id="4" name="TextBox 3">
            <a:extLst>
              <a:ext uri="{FF2B5EF4-FFF2-40B4-BE49-F238E27FC236}">
                <a16:creationId xmlns:a16="http://schemas.microsoft.com/office/drawing/2014/main" id="{3D0D6F8C-F5CE-4ADD-B6B1-3FDFCB67AF69}"/>
              </a:ext>
            </a:extLst>
          </p:cNvPr>
          <p:cNvSpPr txBox="1"/>
          <p:nvPr/>
        </p:nvSpPr>
        <p:spPr>
          <a:xfrm>
            <a:off x="145774" y="477082"/>
            <a:ext cx="11887200" cy="5262979"/>
          </a:xfrm>
          <a:prstGeom prst="rect">
            <a:avLst/>
          </a:prstGeom>
          <a:noFill/>
        </p:spPr>
        <p:txBody>
          <a:bodyPr wrap="square" rtlCol="0">
            <a:spAutoFit/>
          </a:bodyPr>
          <a:lstStyle/>
          <a:p>
            <a:pPr marL="342900" indent="-342900">
              <a:buAutoNum type="arabicPeriod"/>
            </a:pPr>
            <a:r>
              <a:rPr lang="en-US" sz="1400" dirty="0"/>
              <a:t>Follow client server architecture</a:t>
            </a:r>
          </a:p>
          <a:p>
            <a:pPr marL="342900" indent="-342900">
              <a:buFontTx/>
              <a:buAutoNum type="arabicPeriod"/>
            </a:pPr>
            <a:r>
              <a:rPr lang="en-US" sz="1400" dirty="0"/>
              <a:t>Make use of two engines – STT &amp; TSS for voice input /output AND text processing for normal text based input /output.  </a:t>
            </a:r>
          </a:p>
          <a:p>
            <a:pPr marL="342900" indent="-342900">
              <a:buFontTx/>
              <a:buAutoNum type="arabicPeriod"/>
            </a:pPr>
            <a:r>
              <a:rPr lang="en-US" sz="1400" dirty="0"/>
              <a:t>Make use of web browser mic </a:t>
            </a:r>
          </a:p>
          <a:p>
            <a:pPr marL="342900" indent="-342900">
              <a:buAutoNum type="arabicPeriod"/>
            </a:pPr>
            <a:r>
              <a:rPr lang="en-US" sz="1400" dirty="0"/>
              <a:t>Build utmost professional, best in class UI with no compromise on quality of look and feel using React or similar tech stack. </a:t>
            </a:r>
          </a:p>
          <a:p>
            <a:pPr marL="342900" indent="-342900">
              <a:buFontTx/>
              <a:buAutoNum type="arabicPeriod"/>
            </a:pPr>
            <a:r>
              <a:rPr lang="en-US" sz="1400" dirty="0"/>
              <a:t>Include voice enabled login module in the landing page of the web application. Refer to home page design visual reference section in the subsequent slide /section. PLEASE LET ME KNOW IF YOU DO NOT UNDERSTAND OR FIND IT. </a:t>
            </a:r>
          </a:p>
          <a:p>
            <a:pPr marL="342900" indent="-342900">
              <a:buFontTx/>
              <a:buAutoNum type="arabicPeriod"/>
            </a:pPr>
            <a:r>
              <a:rPr lang="en-US" sz="1400" dirty="0"/>
              <a:t>Please refer to home page design visual reference and see the placeholder for application name at the top and placeholder for application information &amp; Responsible AI disclaimer at the bottom of the home page. Please include those information </a:t>
            </a:r>
            <a:r>
              <a:rPr lang="en-US" sz="1400" b="1" dirty="0"/>
              <a:t>mandatorily. </a:t>
            </a:r>
          </a:p>
          <a:p>
            <a:pPr marL="342900" indent="-342900">
              <a:buFontTx/>
              <a:buAutoNum type="arabicPeriod"/>
            </a:pPr>
            <a:r>
              <a:rPr lang="en-US" sz="1400" dirty="0"/>
              <a:t>Make web application name configurable so that I can overwrite or choose as appropriate. Make use of a configuration file where few other configurable parameters can be considered  AS YOU FEEL APPROPRIATE during the application build. </a:t>
            </a:r>
            <a:endParaRPr lang="en-US" sz="1400" b="1" dirty="0"/>
          </a:p>
          <a:p>
            <a:pPr marL="342900" indent="-342900">
              <a:buFontTx/>
              <a:buAutoNum type="arabicPeriod"/>
            </a:pPr>
            <a:r>
              <a:rPr lang="en-US" sz="1400" dirty="0"/>
              <a:t>Implement voice match based authentication method during login  leveraging </a:t>
            </a:r>
            <a:r>
              <a:rPr lang="en-US" sz="1400" b="1" dirty="0"/>
              <a:t>embeddings </a:t>
            </a:r>
          </a:p>
          <a:p>
            <a:pPr marL="342900" indent="-342900">
              <a:buFontTx/>
              <a:buAutoNum type="arabicPeriod"/>
            </a:pPr>
            <a:r>
              <a:rPr lang="en-US" sz="1400" dirty="0"/>
              <a:t>Follow the workflow for Login as detailed in the subsequent slide /section and implement accordingly. Please let me know IF DO NOT UNDERSTAND OR FIND. </a:t>
            </a:r>
          </a:p>
          <a:p>
            <a:pPr marL="342900" indent="-342900">
              <a:buFontTx/>
              <a:buAutoNum type="arabicPeriod"/>
            </a:pPr>
            <a:r>
              <a:rPr lang="en-US" sz="1400" dirty="0"/>
              <a:t>Pay ADEQUATE ATTENTION on the “MAX EMPATHY” button for login. It is the one-button operation specially designed for elderly people or people with poor digital literacy. This “MAX EMPATHY” button is a special USP of the application. </a:t>
            </a:r>
          </a:p>
          <a:p>
            <a:pPr marL="342900" indent="-342900">
              <a:buAutoNum type="arabicPeriod"/>
            </a:pPr>
            <a:r>
              <a:rPr lang="en-US" sz="1400" dirty="0"/>
              <a:t>Make use of configuration file to list down the applicable </a:t>
            </a:r>
            <a:r>
              <a:rPr lang="en-US" sz="1400" b="1" dirty="0"/>
              <a:t>voice enabled services </a:t>
            </a:r>
          </a:p>
          <a:p>
            <a:pPr marL="342900" indent="-342900">
              <a:buAutoNum type="arabicPeriod"/>
            </a:pPr>
            <a:r>
              <a:rPr lang="en-US" sz="1400" dirty="0"/>
              <a:t>Make use of configuration file to store the “</a:t>
            </a:r>
            <a:r>
              <a:rPr lang="en-US" sz="1400" b="1" dirty="0"/>
              <a:t>secret code from service provider”</a:t>
            </a:r>
            <a:r>
              <a:rPr lang="en-US" sz="1400" dirty="0"/>
              <a:t>. Please refer to the login workflow. This code will be used as the last option where voice match is failing for consecutive 3 times for some reasons for an already signed up user and the user denies to signup again. </a:t>
            </a:r>
          </a:p>
          <a:p>
            <a:pPr marL="342900" indent="-342900">
              <a:buAutoNum type="arabicPeriod"/>
            </a:pPr>
            <a:r>
              <a:rPr lang="en-US" sz="1400" dirty="0"/>
              <a:t>Make use of .env files for API keys etc.</a:t>
            </a:r>
          </a:p>
          <a:p>
            <a:pPr marL="342900" indent="-342900">
              <a:buAutoNum type="arabicPeriod"/>
            </a:pPr>
            <a:r>
              <a:rPr lang="en-US" sz="1400" dirty="0"/>
              <a:t>Make use of requirements.txt file</a:t>
            </a:r>
          </a:p>
          <a:p>
            <a:pPr marL="342900" indent="-342900">
              <a:buAutoNum type="arabicPeriod"/>
            </a:pPr>
            <a:r>
              <a:rPr lang="en-US" sz="1400" dirty="0"/>
              <a:t>As per PAS, keep provision for text inputs for each of the voice based inputs. Print the PASS clause number below the text input box to demonstrate that the application is PAS compliant.</a:t>
            </a:r>
          </a:p>
          <a:p>
            <a:pPr marL="342900" indent="-342900">
              <a:buAutoNum type="arabicPeriod"/>
            </a:pPr>
            <a:r>
              <a:rPr lang="en-US" sz="1400" dirty="0"/>
              <a:t>Make use of multilingual interactions for voice based inputs/outputs. Respond back to the user the language in which the user speaks or types. Special focus should be on regional languages like on Bengali, Tamil and Hindi in addition to English. </a:t>
            </a:r>
          </a:p>
          <a:p>
            <a:pPr marL="342900" indent="-342900">
              <a:buAutoNum type="arabicPeriod"/>
            </a:pPr>
            <a:r>
              <a:rPr lang="en-US" sz="1400" dirty="0"/>
              <a:t>Make use of HITL in some places to enhance the quality and robustness of the application</a:t>
            </a:r>
          </a:p>
        </p:txBody>
      </p:sp>
    </p:spTree>
    <p:extLst>
      <p:ext uri="{BB962C8B-B14F-4D97-AF65-F5344CB8AC3E}">
        <p14:creationId xmlns:p14="http://schemas.microsoft.com/office/powerpoint/2010/main" val="584804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5D1B7F1-EFED-409D-8B5C-A4EEAA5EBE4D}"/>
              </a:ext>
            </a:extLst>
          </p:cNvPr>
          <p:cNvSpPr/>
          <p:nvPr/>
        </p:nvSpPr>
        <p:spPr>
          <a:xfrm>
            <a:off x="9475304" y="2156636"/>
            <a:ext cx="2021670" cy="2941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3F095E0-2C70-4053-A790-F11B9568549A}"/>
              </a:ext>
            </a:extLst>
          </p:cNvPr>
          <p:cNvSpPr/>
          <p:nvPr/>
        </p:nvSpPr>
        <p:spPr>
          <a:xfrm>
            <a:off x="85426" y="2014330"/>
            <a:ext cx="2021670" cy="2941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60848A-DF97-4F38-AFEC-26EBE336AC70}"/>
              </a:ext>
            </a:extLst>
          </p:cNvPr>
          <p:cNvSpPr>
            <a:spLocks noGrp="1"/>
          </p:cNvSpPr>
          <p:nvPr>
            <p:ph type="ctrTitle"/>
          </p:nvPr>
        </p:nvSpPr>
        <p:spPr>
          <a:xfrm>
            <a:off x="0" y="0"/>
            <a:ext cx="12192000" cy="434065"/>
          </a:xfrm>
          <a:solidFill>
            <a:schemeClr val="accent2"/>
          </a:solidFill>
        </p:spPr>
        <p:txBody>
          <a:bodyPr>
            <a:normAutofit/>
          </a:bodyPr>
          <a:lstStyle/>
          <a:p>
            <a:r>
              <a:rPr lang="en-US" sz="2200" b="1" dirty="0">
                <a:solidFill>
                  <a:schemeClr val="bg1"/>
                </a:solidFill>
              </a:rPr>
              <a:t>Home Page Design Visual Reference </a:t>
            </a:r>
          </a:p>
        </p:txBody>
      </p:sp>
      <p:sp>
        <p:nvSpPr>
          <p:cNvPr id="9" name="Flowchart: Connector 8">
            <a:extLst>
              <a:ext uri="{FF2B5EF4-FFF2-40B4-BE49-F238E27FC236}">
                <a16:creationId xmlns:a16="http://schemas.microsoft.com/office/drawing/2014/main" id="{18D5981D-2A29-4B7D-BB84-5C95C0B0A6CB}"/>
              </a:ext>
            </a:extLst>
          </p:cNvPr>
          <p:cNvSpPr/>
          <p:nvPr/>
        </p:nvSpPr>
        <p:spPr>
          <a:xfrm>
            <a:off x="4850296" y="2143706"/>
            <a:ext cx="1881808" cy="1862526"/>
          </a:xfrm>
          <a:prstGeom prst="flowChartConnector">
            <a:avLst/>
          </a:prstGeom>
          <a:solidFill>
            <a:schemeClr val="accent6">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MAX EMPATHY</a:t>
            </a:r>
          </a:p>
        </p:txBody>
      </p:sp>
      <p:sp>
        <p:nvSpPr>
          <p:cNvPr id="12" name="Flowchart: Connector 11">
            <a:extLst>
              <a:ext uri="{FF2B5EF4-FFF2-40B4-BE49-F238E27FC236}">
                <a16:creationId xmlns:a16="http://schemas.microsoft.com/office/drawing/2014/main" id="{3F3C531D-C224-46E2-AAF8-9DE804BC7F1C}"/>
              </a:ext>
            </a:extLst>
          </p:cNvPr>
          <p:cNvSpPr/>
          <p:nvPr/>
        </p:nvSpPr>
        <p:spPr>
          <a:xfrm>
            <a:off x="518883" y="2143706"/>
            <a:ext cx="1082299" cy="1144273"/>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Sign-up</a:t>
            </a:r>
          </a:p>
        </p:txBody>
      </p:sp>
      <p:sp>
        <p:nvSpPr>
          <p:cNvPr id="13" name="Flowchart: Connector 12">
            <a:extLst>
              <a:ext uri="{FF2B5EF4-FFF2-40B4-BE49-F238E27FC236}">
                <a16:creationId xmlns:a16="http://schemas.microsoft.com/office/drawing/2014/main" id="{06C3563E-88C4-4873-A9FA-4E31D1F29C2C}"/>
              </a:ext>
            </a:extLst>
          </p:cNvPr>
          <p:cNvSpPr/>
          <p:nvPr/>
        </p:nvSpPr>
        <p:spPr>
          <a:xfrm>
            <a:off x="518882" y="3664614"/>
            <a:ext cx="1082299" cy="1144273"/>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Sign-in</a:t>
            </a:r>
          </a:p>
        </p:txBody>
      </p:sp>
      <p:sp>
        <p:nvSpPr>
          <p:cNvPr id="15" name="Flowchart: Connector 14">
            <a:extLst>
              <a:ext uri="{FF2B5EF4-FFF2-40B4-BE49-F238E27FC236}">
                <a16:creationId xmlns:a16="http://schemas.microsoft.com/office/drawing/2014/main" id="{5864C453-20F2-42A0-BCF4-64F5E77ADC8B}"/>
              </a:ext>
            </a:extLst>
          </p:cNvPr>
          <p:cNvSpPr/>
          <p:nvPr/>
        </p:nvSpPr>
        <p:spPr>
          <a:xfrm>
            <a:off x="10005390" y="3664613"/>
            <a:ext cx="1082299" cy="1144273"/>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Services</a:t>
            </a:r>
          </a:p>
        </p:txBody>
      </p:sp>
      <p:sp>
        <p:nvSpPr>
          <p:cNvPr id="5" name="Flowchart: Connector 4">
            <a:extLst>
              <a:ext uri="{FF2B5EF4-FFF2-40B4-BE49-F238E27FC236}">
                <a16:creationId xmlns:a16="http://schemas.microsoft.com/office/drawing/2014/main" id="{54A204FA-9CAF-4558-B607-E2BBF6C8F2C2}"/>
              </a:ext>
            </a:extLst>
          </p:cNvPr>
          <p:cNvSpPr/>
          <p:nvPr/>
        </p:nvSpPr>
        <p:spPr>
          <a:xfrm>
            <a:off x="10005391" y="2284727"/>
            <a:ext cx="1082299" cy="1144273"/>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About Us</a:t>
            </a:r>
          </a:p>
        </p:txBody>
      </p:sp>
      <p:sp>
        <p:nvSpPr>
          <p:cNvPr id="4" name="TextBox 3">
            <a:extLst>
              <a:ext uri="{FF2B5EF4-FFF2-40B4-BE49-F238E27FC236}">
                <a16:creationId xmlns:a16="http://schemas.microsoft.com/office/drawing/2014/main" id="{2154694B-2CD5-44D1-86BB-E1B2A6A4384A}"/>
              </a:ext>
            </a:extLst>
          </p:cNvPr>
          <p:cNvSpPr txBox="1"/>
          <p:nvPr/>
        </p:nvSpPr>
        <p:spPr>
          <a:xfrm>
            <a:off x="2902226" y="724852"/>
            <a:ext cx="7103165" cy="369332"/>
          </a:xfrm>
          <a:prstGeom prst="rect">
            <a:avLst/>
          </a:prstGeom>
          <a:solidFill>
            <a:schemeClr val="accent4">
              <a:lumMod val="20000"/>
              <a:lumOff val="80000"/>
            </a:schemeClr>
          </a:solidFill>
        </p:spPr>
        <p:txBody>
          <a:bodyPr wrap="square" rtlCol="0">
            <a:spAutoFit/>
          </a:bodyPr>
          <a:lstStyle/>
          <a:p>
            <a:r>
              <a:rPr lang="en-US" dirty="0"/>
              <a:t>Place Holder For Web Application Name: &lt;Empathy&gt;</a:t>
            </a:r>
          </a:p>
        </p:txBody>
      </p:sp>
      <p:sp>
        <p:nvSpPr>
          <p:cNvPr id="6" name="TextBox 5">
            <a:extLst>
              <a:ext uri="{FF2B5EF4-FFF2-40B4-BE49-F238E27FC236}">
                <a16:creationId xmlns:a16="http://schemas.microsoft.com/office/drawing/2014/main" id="{AF9D3774-CE4F-43C3-9C35-35628FEA1A10}"/>
              </a:ext>
            </a:extLst>
          </p:cNvPr>
          <p:cNvSpPr txBox="1"/>
          <p:nvPr/>
        </p:nvSpPr>
        <p:spPr>
          <a:xfrm>
            <a:off x="85426" y="5752131"/>
            <a:ext cx="11987304" cy="769441"/>
          </a:xfrm>
          <a:prstGeom prst="rect">
            <a:avLst/>
          </a:prstGeom>
          <a:noFill/>
        </p:spPr>
        <p:txBody>
          <a:bodyPr wrap="square" rtlCol="0">
            <a:spAutoFit/>
          </a:bodyPr>
          <a:lstStyle/>
          <a:p>
            <a:r>
              <a:rPr lang="en-US" sz="1200" dirty="0"/>
              <a:t>Application Release Version: V1.0	Application Release date: 17</a:t>
            </a:r>
            <a:r>
              <a:rPr lang="en-US" sz="1200" baseline="30000" dirty="0"/>
              <a:t>th</a:t>
            </a:r>
            <a:r>
              <a:rPr lang="en-US" sz="1200" dirty="0"/>
              <a:t> July,2026</a:t>
            </a:r>
          </a:p>
          <a:p>
            <a:r>
              <a:rPr lang="en-US" sz="1200" dirty="0"/>
              <a:t>Product Owner: </a:t>
            </a:r>
            <a:r>
              <a:rPr lang="en-US" sz="1200" dirty="0" err="1"/>
              <a:t>Moulinath</a:t>
            </a:r>
            <a:r>
              <a:rPr lang="en-US" sz="1200" dirty="0"/>
              <a:t> Ray	Executive Sponsor: TCS^</a:t>
            </a:r>
            <a:r>
              <a:rPr lang="en-US" sz="1200" baseline="30000" dirty="0"/>
              <a:t>AI</a:t>
            </a:r>
          </a:p>
          <a:p>
            <a:endParaRPr lang="en-US" sz="1200" baseline="30000" dirty="0"/>
          </a:p>
          <a:p>
            <a:r>
              <a:rPr lang="en-US" sz="1200" dirty="0"/>
              <a:t>Responsible AI Disclaimer: This build is assisted and augmented by AI under the guided supervision of the product owner.  </a:t>
            </a:r>
          </a:p>
        </p:txBody>
      </p:sp>
      <p:sp>
        <p:nvSpPr>
          <p:cNvPr id="21" name="TextBox 20">
            <a:extLst>
              <a:ext uri="{FF2B5EF4-FFF2-40B4-BE49-F238E27FC236}">
                <a16:creationId xmlns:a16="http://schemas.microsoft.com/office/drawing/2014/main" id="{C740975C-1934-4CEC-8607-BE8A794A8B1D}"/>
              </a:ext>
            </a:extLst>
          </p:cNvPr>
          <p:cNvSpPr txBox="1"/>
          <p:nvPr/>
        </p:nvSpPr>
        <p:spPr>
          <a:xfrm>
            <a:off x="85426" y="5366810"/>
            <a:ext cx="3969739" cy="276999"/>
          </a:xfrm>
          <a:prstGeom prst="rect">
            <a:avLst/>
          </a:prstGeom>
          <a:solidFill>
            <a:schemeClr val="accent4">
              <a:lumMod val="20000"/>
              <a:lumOff val="80000"/>
            </a:schemeClr>
          </a:solidFill>
        </p:spPr>
        <p:txBody>
          <a:bodyPr wrap="square" rtlCol="0">
            <a:spAutoFit/>
          </a:bodyPr>
          <a:lstStyle/>
          <a:p>
            <a:r>
              <a:rPr lang="en-US" sz="1200" dirty="0"/>
              <a:t>Place Holder For Web Application Information &amp; Disclaimer: </a:t>
            </a:r>
          </a:p>
        </p:txBody>
      </p:sp>
      <p:sp>
        <p:nvSpPr>
          <p:cNvPr id="10" name="TextBox 9">
            <a:extLst>
              <a:ext uri="{FF2B5EF4-FFF2-40B4-BE49-F238E27FC236}">
                <a16:creationId xmlns:a16="http://schemas.microsoft.com/office/drawing/2014/main" id="{FE4261A6-2D8A-4523-B496-9A12C1407B27}"/>
              </a:ext>
            </a:extLst>
          </p:cNvPr>
          <p:cNvSpPr txBox="1"/>
          <p:nvPr/>
        </p:nvSpPr>
        <p:spPr>
          <a:xfrm>
            <a:off x="304799" y="1562979"/>
            <a:ext cx="1590261" cy="369332"/>
          </a:xfrm>
          <a:prstGeom prst="rect">
            <a:avLst/>
          </a:prstGeom>
          <a:noFill/>
        </p:spPr>
        <p:txBody>
          <a:bodyPr wrap="square" rtlCol="0">
            <a:spAutoFit/>
          </a:bodyPr>
          <a:lstStyle/>
          <a:p>
            <a:pPr algn="ctr"/>
            <a:r>
              <a:rPr lang="en-US" dirty="0"/>
              <a:t>Login</a:t>
            </a:r>
          </a:p>
        </p:txBody>
      </p:sp>
      <p:sp>
        <p:nvSpPr>
          <p:cNvPr id="22" name="TextBox 21">
            <a:extLst>
              <a:ext uri="{FF2B5EF4-FFF2-40B4-BE49-F238E27FC236}">
                <a16:creationId xmlns:a16="http://schemas.microsoft.com/office/drawing/2014/main" id="{E0A05C59-C92B-4D21-9A5E-2A1D899AB1C6}"/>
              </a:ext>
            </a:extLst>
          </p:cNvPr>
          <p:cNvSpPr txBox="1"/>
          <p:nvPr/>
        </p:nvSpPr>
        <p:spPr>
          <a:xfrm>
            <a:off x="9691008" y="1733143"/>
            <a:ext cx="1590261" cy="369332"/>
          </a:xfrm>
          <a:prstGeom prst="rect">
            <a:avLst/>
          </a:prstGeom>
          <a:noFill/>
        </p:spPr>
        <p:txBody>
          <a:bodyPr wrap="square" rtlCol="0">
            <a:spAutoFit/>
          </a:bodyPr>
          <a:lstStyle/>
          <a:p>
            <a:pPr algn="ctr"/>
            <a:r>
              <a:rPr lang="en-US" dirty="0"/>
              <a:t>Information</a:t>
            </a:r>
          </a:p>
        </p:txBody>
      </p:sp>
    </p:spTree>
    <p:extLst>
      <p:ext uri="{BB962C8B-B14F-4D97-AF65-F5344CB8AC3E}">
        <p14:creationId xmlns:p14="http://schemas.microsoft.com/office/powerpoint/2010/main" val="2020695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848A-DF97-4F38-AFEC-26EBE336AC70}"/>
              </a:ext>
            </a:extLst>
          </p:cNvPr>
          <p:cNvSpPr>
            <a:spLocks noGrp="1"/>
          </p:cNvSpPr>
          <p:nvPr>
            <p:ph type="ctrTitle"/>
          </p:nvPr>
        </p:nvSpPr>
        <p:spPr>
          <a:xfrm>
            <a:off x="0" y="0"/>
            <a:ext cx="12192000" cy="410817"/>
          </a:xfrm>
          <a:solidFill>
            <a:schemeClr val="accent2"/>
          </a:solidFill>
        </p:spPr>
        <p:txBody>
          <a:bodyPr>
            <a:normAutofit/>
          </a:bodyPr>
          <a:lstStyle/>
          <a:p>
            <a:r>
              <a:rPr lang="en-US" sz="2200" b="1" dirty="0">
                <a:solidFill>
                  <a:schemeClr val="bg1"/>
                </a:solidFill>
              </a:rPr>
              <a:t>Signup </a:t>
            </a:r>
          </a:p>
        </p:txBody>
      </p:sp>
      <p:sp>
        <p:nvSpPr>
          <p:cNvPr id="3" name="TextBox 2">
            <a:extLst>
              <a:ext uri="{FF2B5EF4-FFF2-40B4-BE49-F238E27FC236}">
                <a16:creationId xmlns:a16="http://schemas.microsoft.com/office/drawing/2014/main" id="{98B23357-4D52-462D-9867-D5475B559E4E}"/>
              </a:ext>
            </a:extLst>
          </p:cNvPr>
          <p:cNvSpPr txBox="1"/>
          <p:nvPr/>
        </p:nvSpPr>
        <p:spPr>
          <a:xfrm>
            <a:off x="218364" y="1105469"/>
            <a:ext cx="11723427" cy="4801314"/>
          </a:xfrm>
          <a:prstGeom prst="rect">
            <a:avLst/>
          </a:prstGeom>
          <a:noFill/>
        </p:spPr>
        <p:txBody>
          <a:bodyPr wrap="square" rtlCol="0">
            <a:spAutoFit/>
          </a:bodyPr>
          <a:lstStyle/>
          <a:p>
            <a:r>
              <a:rPr lang="en-US" dirty="0"/>
              <a:t>High Level Tasks:</a:t>
            </a:r>
          </a:p>
          <a:p>
            <a:pPr marL="742950" lvl="1" indent="-285750">
              <a:buFont typeface="Arial" panose="020B0604020202020204" pitchFamily="34" charset="0"/>
              <a:buChar char="•"/>
            </a:pPr>
            <a:r>
              <a:rPr lang="en-US" dirty="0"/>
              <a:t>Collect voice sample and store for authentication during future login</a:t>
            </a:r>
          </a:p>
          <a:p>
            <a:pPr marL="742950" lvl="1" indent="-285750">
              <a:buFont typeface="Arial" panose="020B0604020202020204" pitchFamily="34" charset="0"/>
              <a:buChar char="•"/>
            </a:pPr>
            <a:r>
              <a:rPr lang="en-US" dirty="0"/>
              <a:t>Get answers to few questions for multi fact authentication</a:t>
            </a:r>
          </a:p>
          <a:p>
            <a:r>
              <a:rPr lang="en-US" dirty="0"/>
              <a:t>Tasks in Details:</a:t>
            </a:r>
          </a:p>
          <a:p>
            <a:pPr marL="742950" lvl="1" indent="-285750">
              <a:buFont typeface="Arial" panose="020B0604020202020204" pitchFamily="34" charset="0"/>
              <a:buChar char="•"/>
            </a:pPr>
            <a:r>
              <a:rPr lang="en-US" dirty="0"/>
              <a:t>For voice sample collection : Make the user speak by asking some informal questions. Example: (1) based on time of login, ask what the user had in breakfast / lunch / snacks / dinner. (2) How is the mood of the user (3) why the user needs to login now etc. </a:t>
            </a:r>
          </a:p>
          <a:p>
            <a:pPr marL="742950" lvl="1" indent="-285750">
              <a:buFont typeface="Arial" panose="020B0604020202020204" pitchFamily="34" charset="0"/>
              <a:buChar char="•"/>
            </a:pPr>
            <a:r>
              <a:rPr lang="en-US" dirty="0"/>
              <a:t>Make the user speak max for 30 sec and capture few voice samples </a:t>
            </a:r>
          </a:p>
          <a:p>
            <a:pPr marL="742950" lvl="1" indent="-285750">
              <a:buFont typeface="Arial" panose="020B0604020202020204" pitchFamily="34" charset="0"/>
              <a:buChar char="•"/>
            </a:pPr>
            <a:r>
              <a:rPr lang="en-US" dirty="0"/>
              <a:t>For multi fact authentication:</a:t>
            </a:r>
          </a:p>
          <a:p>
            <a:pPr marL="1200150" lvl="2" indent="-285750">
              <a:buFont typeface="Wingdings" panose="05000000000000000000" pitchFamily="2" charset="2"/>
              <a:buChar char="ü"/>
            </a:pPr>
            <a:r>
              <a:rPr lang="en-US" dirty="0"/>
              <a:t>For multi fact authentication: What was your first school ?</a:t>
            </a:r>
          </a:p>
          <a:p>
            <a:pPr marL="1200150" lvl="2" indent="-285750">
              <a:buFont typeface="Wingdings" panose="05000000000000000000" pitchFamily="2" charset="2"/>
              <a:buChar char="ü"/>
            </a:pPr>
            <a:r>
              <a:rPr lang="en-US" dirty="0"/>
              <a:t>What is the last four digits of your phone number ?</a:t>
            </a:r>
          </a:p>
          <a:p>
            <a:pPr marL="1200150" lvl="2" indent="-285750">
              <a:buFont typeface="Wingdings" panose="05000000000000000000" pitchFamily="2" charset="2"/>
              <a:buChar char="ü"/>
            </a:pPr>
            <a:r>
              <a:rPr lang="en-US" dirty="0"/>
              <a:t>Who was your best childhood friend?</a:t>
            </a:r>
          </a:p>
          <a:p>
            <a:pPr marL="1200150" lvl="2" indent="-285750">
              <a:buFont typeface="Wingdings" panose="05000000000000000000" pitchFamily="2" charset="2"/>
              <a:buChar char="ü"/>
            </a:pPr>
            <a:r>
              <a:rPr lang="en-US" dirty="0"/>
              <a:t>What sports are you interested in ?</a:t>
            </a:r>
          </a:p>
          <a:p>
            <a:pPr marL="1200150" lvl="2" indent="-285750">
              <a:buFont typeface="Wingdings" panose="05000000000000000000" pitchFamily="2" charset="2"/>
              <a:buChar char="ü"/>
            </a:pPr>
            <a:r>
              <a:rPr lang="en-US" dirty="0"/>
              <a:t>What is your favorite season ?</a:t>
            </a:r>
          </a:p>
          <a:p>
            <a:pPr marL="1200150" lvl="2" indent="-285750">
              <a:buFont typeface="Wingdings" panose="05000000000000000000" pitchFamily="2" charset="2"/>
              <a:buChar char="ü"/>
            </a:pPr>
            <a:r>
              <a:rPr lang="en-US" dirty="0"/>
              <a:t>What is the secret code service provider gave you ? </a:t>
            </a:r>
          </a:p>
          <a:p>
            <a:pPr marL="1200150" lvl="2" indent="-285750">
              <a:buFont typeface="Wingdings" panose="05000000000000000000" pitchFamily="2" charset="2"/>
              <a:buChar char="ü"/>
            </a:pPr>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58457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848A-DF97-4F38-AFEC-26EBE336AC70}"/>
              </a:ext>
            </a:extLst>
          </p:cNvPr>
          <p:cNvSpPr>
            <a:spLocks noGrp="1"/>
          </p:cNvSpPr>
          <p:nvPr>
            <p:ph type="ctrTitle"/>
          </p:nvPr>
        </p:nvSpPr>
        <p:spPr>
          <a:xfrm>
            <a:off x="0" y="1"/>
            <a:ext cx="12192000" cy="450574"/>
          </a:xfrm>
          <a:solidFill>
            <a:schemeClr val="accent2"/>
          </a:solidFill>
        </p:spPr>
        <p:txBody>
          <a:bodyPr>
            <a:normAutofit/>
          </a:bodyPr>
          <a:lstStyle/>
          <a:p>
            <a:r>
              <a:rPr lang="en-US" sz="2200" b="1" dirty="0" err="1">
                <a:solidFill>
                  <a:schemeClr val="bg1"/>
                </a:solidFill>
              </a:rPr>
              <a:t>Signin</a:t>
            </a:r>
            <a:r>
              <a:rPr lang="en-US" sz="2200" b="1" dirty="0">
                <a:solidFill>
                  <a:schemeClr val="bg1"/>
                </a:solidFill>
              </a:rPr>
              <a:t> </a:t>
            </a:r>
          </a:p>
        </p:txBody>
      </p:sp>
      <p:sp>
        <p:nvSpPr>
          <p:cNvPr id="3" name="TextBox 2">
            <a:extLst>
              <a:ext uri="{FF2B5EF4-FFF2-40B4-BE49-F238E27FC236}">
                <a16:creationId xmlns:a16="http://schemas.microsoft.com/office/drawing/2014/main" id="{98B23357-4D52-462D-9867-D5475B559E4E}"/>
              </a:ext>
            </a:extLst>
          </p:cNvPr>
          <p:cNvSpPr txBox="1"/>
          <p:nvPr/>
        </p:nvSpPr>
        <p:spPr>
          <a:xfrm>
            <a:off x="218364" y="1105469"/>
            <a:ext cx="11723427" cy="3970318"/>
          </a:xfrm>
          <a:prstGeom prst="rect">
            <a:avLst/>
          </a:prstGeom>
          <a:noFill/>
        </p:spPr>
        <p:txBody>
          <a:bodyPr wrap="square" rtlCol="0">
            <a:spAutoFit/>
          </a:bodyPr>
          <a:lstStyle/>
          <a:p>
            <a:r>
              <a:rPr lang="en-US" dirty="0"/>
              <a:t>High Level Tasks:</a:t>
            </a:r>
          </a:p>
          <a:p>
            <a:pPr marL="742950" lvl="1" indent="-285750">
              <a:buFont typeface="Arial" panose="020B0604020202020204" pitchFamily="34" charset="0"/>
              <a:buChar char="•"/>
            </a:pPr>
            <a:r>
              <a:rPr lang="en-US" dirty="0"/>
              <a:t>Match the voice sample </a:t>
            </a:r>
          </a:p>
          <a:p>
            <a:pPr marL="742950" lvl="1" indent="-285750">
              <a:buFont typeface="Arial" panose="020B0604020202020204" pitchFamily="34" charset="0"/>
              <a:buChar char="•"/>
            </a:pPr>
            <a:r>
              <a:rPr lang="en-US" dirty="0"/>
              <a:t>Multi fact authentication from list of questions answered during the signup process. </a:t>
            </a:r>
          </a:p>
          <a:p>
            <a:r>
              <a:rPr lang="en-US" dirty="0"/>
              <a:t>Tasks in Details:</a:t>
            </a:r>
          </a:p>
          <a:p>
            <a:pPr marL="742950" lvl="1" indent="-285750">
              <a:buFont typeface="Arial" panose="020B0604020202020204" pitchFamily="34" charset="0"/>
              <a:buChar char="•"/>
            </a:pPr>
            <a:r>
              <a:rPr lang="en-US" dirty="0"/>
              <a:t>For voice sample collection : Make the user speak by asking some informal questions and match the voice sample with the stored one.  </a:t>
            </a:r>
          </a:p>
          <a:p>
            <a:pPr marL="742950" lvl="1" indent="-285750">
              <a:buFont typeface="Arial" panose="020B0604020202020204" pitchFamily="34" charset="0"/>
              <a:buChar char="•"/>
            </a:pPr>
            <a:r>
              <a:rPr lang="en-US" dirty="0"/>
              <a:t>For multi fact authentication: Make the user answer any 2/3 questions he answered during signup. </a:t>
            </a:r>
          </a:p>
          <a:p>
            <a:pPr marL="1200150" lvl="2" indent="-285750">
              <a:buFont typeface="Wingdings" panose="05000000000000000000" pitchFamily="2" charset="2"/>
              <a:buChar char="ü"/>
            </a:pPr>
            <a:r>
              <a:rPr lang="en-US" dirty="0"/>
              <a:t>For multi fact authentication: What was your first school ?</a:t>
            </a:r>
          </a:p>
          <a:p>
            <a:pPr marL="1200150" lvl="2" indent="-285750">
              <a:buFont typeface="Wingdings" panose="05000000000000000000" pitchFamily="2" charset="2"/>
              <a:buChar char="ü"/>
            </a:pPr>
            <a:r>
              <a:rPr lang="en-US" dirty="0"/>
              <a:t>What is the last four digits of your phone number ?</a:t>
            </a:r>
          </a:p>
          <a:p>
            <a:pPr marL="1200150" lvl="2" indent="-285750">
              <a:buFont typeface="Wingdings" panose="05000000000000000000" pitchFamily="2" charset="2"/>
              <a:buChar char="ü"/>
            </a:pPr>
            <a:r>
              <a:rPr lang="en-US" dirty="0"/>
              <a:t>Who was your best childhood friend?</a:t>
            </a:r>
          </a:p>
          <a:p>
            <a:pPr marL="1200150" lvl="2" indent="-285750">
              <a:buFont typeface="Wingdings" panose="05000000000000000000" pitchFamily="2" charset="2"/>
              <a:buChar char="ü"/>
            </a:pPr>
            <a:r>
              <a:rPr lang="en-US" dirty="0"/>
              <a:t>What sports are you interested in ?</a:t>
            </a:r>
          </a:p>
          <a:p>
            <a:pPr marL="1200150" lvl="2" indent="-285750">
              <a:buFont typeface="Wingdings" panose="05000000000000000000" pitchFamily="2" charset="2"/>
              <a:buChar char="ü"/>
            </a:pPr>
            <a:r>
              <a:rPr lang="en-US" dirty="0"/>
              <a:t>What is your favorite season ?</a:t>
            </a:r>
          </a:p>
          <a:p>
            <a:pPr marL="1200150" lvl="2" indent="-285750">
              <a:buFont typeface="Wingdings" panose="05000000000000000000" pitchFamily="2" charset="2"/>
              <a:buChar char="ü"/>
            </a:pPr>
            <a:r>
              <a:rPr lang="en-US" dirty="0"/>
              <a:t>How many kids do you have ? </a:t>
            </a: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798208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848A-DF97-4F38-AFEC-26EBE336AC70}"/>
              </a:ext>
            </a:extLst>
          </p:cNvPr>
          <p:cNvSpPr>
            <a:spLocks noGrp="1"/>
          </p:cNvSpPr>
          <p:nvPr>
            <p:ph type="ctrTitle"/>
          </p:nvPr>
        </p:nvSpPr>
        <p:spPr>
          <a:xfrm>
            <a:off x="0" y="1"/>
            <a:ext cx="12192000" cy="394788"/>
          </a:xfrm>
          <a:solidFill>
            <a:schemeClr val="accent2"/>
          </a:solidFill>
        </p:spPr>
        <p:txBody>
          <a:bodyPr>
            <a:normAutofit/>
          </a:bodyPr>
          <a:lstStyle/>
          <a:p>
            <a:r>
              <a:rPr lang="en-US" sz="2200" b="1" dirty="0">
                <a:solidFill>
                  <a:schemeClr val="bg1"/>
                </a:solidFill>
              </a:rPr>
              <a:t>Login Workflow</a:t>
            </a:r>
          </a:p>
        </p:txBody>
      </p:sp>
      <p:sp>
        <p:nvSpPr>
          <p:cNvPr id="4" name="Rectangle 3">
            <a:extLst>
              <a:ext uri="{FF2B5EF4-FFF2-40B4-BE49-F238E27FC236}">
                <a16:creationId xmlns:a16="http://schemas.microsoft.com/office/drawing/2014/main" id="{594EC137-9935-4777-A42D-042331168F03}"/>
              </a:ext>
            </a:extLst>
          </p:cNvPr>
          <p:cNvSpPr/>
          <p:nvPr/>
        </p:nvSpPr>
        <p:spPr>
          <a:xfrm>
            <a:off x="3550714" y="984509"/>
            <a:ext cx="4310396" cy="3368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Speaks </a:t>
            </a:r>
          </a:p>
        </p:txBody>
      </p:sp>
      <p:sp>
        <p:nvSpPr>
          <p:cNvPr id="5" name="Flowchart: Decision 4">
            <a:extLst>
              <a:ext uri="{FF2B5EF4-FFF2-40B4-BE49-F238E27FC236}">
                <a16:creationId xmlns:a16="http://schemas.microsoft.com/office/drawing/2014/main" id="{E8D61E3F-91E1-47DF-A068-5EF524BBF428}"/>
              </a:ext>
            </a:extLst>
          </p:cNvPr>
          <p:cNvSpPr/>
          <p:nvPr/>
        </p:nvSpPr>
        <p:spPr>
          <a:xfrm>
            <a:off x="4453719" y="1718343"/>
            <a:ext cx="3111689" cy="7402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Voice Sample Match ? </a:t>
            </a:r>
          </a:p>
        </p:txBody>
      </p:sp>
      <p:sp>
        <p:nvSpPr>
          <p:cNvPr id="7" name="Rectangle 6">
            <a:extLst>
              <a:ext uri="{FF2B5EF4-FFF2-40B4-BE49-F238E27FC236}">
                <a16:creationId xmlns:a16="http://schemas.microsoft.com/office/drawing/2014/main" id="{8F1FD518-14F0-4474-AE6B-529783493458}"/>
              </a:ext>
            </a:extLst>
          </p:cNvPr>
          <p:cNvSpPr/>
          <p:nvPr/>
        </p:nvSpPr>
        <p:spPr>
          <a:xfrm>
            <a:off x="11118574" y="2807141"/>
            <a:ext cx="1012009" cy="299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Logged in to access service </a:t>
            </a:r>
          </a:p>
        </p:txBody>
      </p:sp>
      <p:sp>
        <p:nvSpPr>
          <p:cNvPr id="10" name="Flowchart: Decision 9">
            <a:extLst>
              <a:ext uri="{FF2B5EF4-FFF2-40B4-BE49-F238E27FC236}">
                <a16:creationId xmlns:a16="http://schemas.microsoft.com/office/drawing/2014/main" id="{491C8C7B-B70E-461B-99EC-17C94B2F6BE0}"/>
              </a:ext>
            </a:extLst>
          </p:cNvPr>
          <p:cNvSpPr/>
          <p:nvPr/>
        </p:nvSpPr>
        <p:spPr>
          <a:xfrm>
            <a:off x="4583377" y="4482188"/>
            <a:ext cx="3111689" cy="356305"/>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Failed ?</a:t>
            </a:r>
          </a:p>
        </p:txBody>
      </p:sp>
      <p:cxnSp>
        <p:nvCxnSpPr>
          <p:cNvPr id="13" name="Straight Connector 12">
            <a:extLst>
              <a:ext uri="{FF2B5EF4-FFF2-40B4-BE49-F238E27FC236}">
                <a16:creationId xmlns:a16="http://schemas.microsoft.com/office/drawing/2014/main" id="{BBB913EC-E741-4966-B76B-82B92F1B5DFA}"/>
              </a:ext>
            </a:extLst>
          </p:cNvPr>
          <p:cNvCxnSpPr>
            <a:cxnSpLocks/>
            <a:stCxn id="10" idx="3"/>
          </p:cNvCxnSpPr>
          <p:nvPr/>
        </p:nvCxnSpPr>
        <p:spPr>
          <a:xfrm flipV="1">
            <a:off x="7695066" y="4263830"/>
            <a:ext cx="222344" cy="396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7929405-A6B8-4725-89C8-B9DE34CD5E9E}"/>
              </a:ext>
            </a:extLst>
          </p:cNvPr>
          <p:cNvCxnSpPr>
            <a:cxnSpLocks/>
          </p:cNvCxnSpPr>
          <p:nvPr/>
        </p:nvCxnSpPr>
        <p:spPr>
          <a:xfrm flipV="1">
            <a:off x="7907654" y="2468432"/>
            <a:ext cx="417276" cy="1836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4266DB08-D474-40AB-AB9C-F8188566B16F}"/>
              </a:ext>
            </a:extLst>
          </p:cNvPr>
          <p:cNvSpPr/>
          <p:nvPr/>
        </p:nvSpPr>
        <p:spPr>
          <a:xfrm>
            <a:off x="8220497" y="5167466"/>
            <a:ext cx="1669613" cy="146534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Secret code match</a:t>
            </a:r>
          </a:p>
        </p:txBody>
      </p:sp>
      <p:sp>
        <p:nvSpPr>
          <p:cNvPr id="18" name="Rectangle 17">
            <a:extLst>
              <a:ext uri="{FF2B5EF4-FFF2-40B4-BE49-F238E27FC236}">
                <a16:creationId xmlns:a16="http://schemas.microsoft.com/office/drawing/2014/main" id="{6A451BE0-2317-4408-99AA-E35D4B30824F}"/>
              </a:ext>
            </a:extLst>
          </p:cNvPr>
          <p:cNvSpPr/>
          <p:nvPr/>
        </p:nvSpPr>
        <p:spPr>
          <a:xfrm>
            <a:off x="10095754" y="5729139"/>
            <a:ext cx="1307909" cy="3935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Exit</a:t>
            </a:r>
          </a:p>
        </p:txBody>
      </p:sp>
      <p:cxnSp>
        <p:nvCxnSpPr>
          <p:cNvPr id="20" name="Straight Arrow Connector 19">
            <a:extLst>
              <a:ext uri="{FF2B5EF4-FFF2-40B4-BE49-F238E27FC236}">
                <a16:creationId xmlns:a16="http://schemas.microsoft.com/office/drawing/2014/main" id="{519A4578-7B58-48E0-AA26-4C2E6C820A0B}"/>
              </a:ext>
            </a:extLst>
          </p:cNvPr>
          <p:cNvCxnSpPr>
            <a:cxnSpLocks/>
          </p:cNvCxnSpPr>
          <p:nvPr/>
        </p:nvCxnSpPr>
        <p:spPr>
          <a:xfrm flipH="1" flipV="1">
            <a:off x="8483224" y="2604552"/>
            <a:ext cx="472642" cy="2578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5092BA5-C9FF-4281-A573-57AC873BBCA4}"/>
              </a:ext>
            </a:extLst>
          </p:cNvPr>
          <p:cNvCxnSpPr>
            <a:cxnSpLocks/>
            <a:stCxn id="17" idx="3"/>
            <a:endCxn id="18" idx="1"/>
          </p:cNvCxnSpPr>
          <p:nvPr/>
        </p:nvCxnSpPr>
        <p:spPr>
          <a:xfrm>
            <a:off x="9890110" y="5900139"/>
            <a:ext cx="205644" cy="25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3EBE1D5-DD5F-4B29-AAD8-F924B7DCD554}"/>
              </a:ext>
            </a:extLst>
          </p:cNvPr>
          <p:cNvCxnSpPr>
            <a:cxnSpLocks/>
          </p:cNvCxnSpPr>
          <p:nvPr/>
        </p:nvCxnSpPr>
        <p:spPr>
          <a:xfrm>
            <a:off x="4024954" y="1378424"/>
            <a:ext cx="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0222522-8093-40D5-9616-EBBE4BB50428}"/>
              </a:ext>
            </a:extLst>
          </p:cNvPr>
          <p:cNvCxnSpPr>
            <a:cxnSpLocks/>
          </p:cNvCxnSpPr>
          <p:nvPr/>
        </p:nvCxnSpPr>
        <p:spPr>
          <a:xfrm flipH="1" flipV="1">
            <a:off x="3787382" y="1321212"/>
            <a:ext cx="12383" cy="1436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2E40C0C-5E47-43CC-A0E1-F3256A0CF5A9}"/>
              </a:ext>
            </a:extLst>
          </p:cNvPr>
          <p:cNvCxnSpPr>
            <a:cxnSpLocks/>
            <a:stCxn id="4" idx="2"/>
            <a:endCxn id="5" idx="0"/>
          </p:cNvCxnSpPr>
          <p:nvPr/>
        </p:nvCxnSpPr>
        <p:spPr>
          <a:xfrm>
            <a:off x="5705912" y="1321350"/>
            <a:ext cx="303652" cy="396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2AFDB48-4008-4951-8741-D926E9325EBC}"/>
              </a:ext>
            </a:extLst>
          </p:cNvPr>
          <p:cNvCxnSpPr>
            <a:cxnSpLocks/>
          </p:cNvCxnSpPr>
          <p:nvPr/>
        </p:nvCxnSpPr>
        <p:spPr>
          <a:xfrm>
            <a:off x="6033380" y="2468432"/>
            <a:ext cx="3974" cy="2816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15EF774-7416-48D3-BC39-E332586D2499}"/>
              </a:ext>
            </a:extLst>
          </p:cNvPr>
          <p:cNvCxnSpPr>
            <a:cxnSpLocks/>
            <a:stCxn id="10" idx="1"/>
            <a:endCxn id="63" idx="0"/>
          </p:cNvCxnSpPr>
          <p:nvPr/>
        </p:nvCxnSpPr>
        <p:spPr>
          <a:xfrm flipH="1">
            <a:off x="2551424" y="4660341"/>
            <a:ext cx="2031953" cy="608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18A0C2A-FF93-4105-9D66-3B46119F24F9}"/>
              </a:ext>
            </a:extLst>
          </p:cNvPr>
          <p:cNvCxnSpPr>
            <a:cxnSpLocks/>
            <a:stCxn id="5" idx="3"/>
          </p:cNvCxnSpPr>
          <p:nvPr/>
        </p:nvCxnSpPr>
        <p:spPr>
          <a:xfrm>
            <a:off x="7565408" y="2088458"/>
            <a:ext cx="766310" cy="247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F4DC679-2E7B-4B29-B647-8A65BF2E6D1B}"/>
              </a:ext>
            </a:extLst>
          </p:cNvPr>
          <p:cNvCxnSpPr>
            <a:cxnSpLocks/>
          </p:cNvCxnSpPr>
          <p:nvPr/>
        </p:nvCxnSpPr>
        <p:spPr>
          <a:xfrm>
            <a:off x="6800563" y="5900138"/>
            <a:ext cx="14199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0526244-2249-42ED-9B93-64550F2E0D63}"/>
              </a:ext>
            </a:extLst>
          </p:cNvPr>
          <p:cNvSpPr txBox="1"/>
          <p:nvPr/>
        </p:nvSpPr>
        <p:spPr>
          <a:xfrm>
            <a:off x="2651368" y="3047579"/>
            <a:ext cx="503965" cy="369332"/>
          </a:xfrm>
          <a:prstGeom prst="rect">
            <a:avLst/>
          </a:prstGeom>
          <a:noFill/>
        </p:spPr>
        <p:txBody>
          <a:bodyPr wrap="square" rtlCol="0">
            <a:spAutoFit/>
          </a:bodyPr>
          <a:lstStyle/>
          <a:p>
            <a:r>
              <a:rPr lang="en-US" dirty="0"/>
              <a:t>No</a:t>
            </a:r>
          </a:p>
        </p:txBody>
      </p:sp>
      <p:sp>
        <p:nvSpPr>
          <p:cNvPr id="50" name="TextBox 49">
            <a:extLst>
              <a:ext uri="{FF2B5EF4-FFF2-40B4-BE49-F238E27FC236}">
                <a16:creationId xmlns:a16="http://schemas.microsoft.com/office/drawing/2014/main" id="{78D132C0-7630-4492-9AF1-4D866E4DD7AB}"/>
              </a:ext>
            </a:extLst>
          </p:cNvPr>
          <p:cNvSpPr txBox="1"/>
          <p:nvPr/>
        </p:nvSpPr>
        <p:spPr>
          <a:xfrm>
            <a:off x="8018909" y="3613672"/>
            <a:ext cx="565814" cy="369332"/>
          </a:xfrm>
          <a:prstGeom prst="rect">
            <a:avLst/>
          </a:prstGeom>
          <a:noFill/>
        </p:spPr>
        <p:txBody>
          <a:bodyPr wrap="square" rtlCol="0">
            <a:spAutoFit/>
          </a:bodyPr>
          <a:lstStyle/>
          <a:p>
            <a:r>
              <a:rPr lang="en-US" dirty="0"/>
              <a:t>No</a:t>
            </a:r>
          </a:p>
        </p:txBody>
      </p:sp>
      <p:sp>
        <p:nvSpPr>
          <p:cNvPr id="51" name="TextBox 50">
            <a:extLst>
              <a:ext uri="{FF2B5EF4-FFF2-40B4-BE49-F238E27FC236}">
                <a16:creationId xmlns:a16="http://schemas.microsoft.com/office/drawing/2014/main" id="{1017A060-3449-4948-8016-AC42FC520935}"/>
              </a:ext>
            </a:extLst>
          </p:cNvPr>
          <p:cNvSpPr txBox="1"/>
          <p:nvPr/>
        </p:nvSpPr>
        <p:spPr>
          <a:xfrm>
            <a:off x="9694702" y="5530385"/>
            <a:ext cx="565814" cy="369332"/>
          </a:xfrm>
          <a:prstGeom prst="rect">
            <a:avLst/>
          </a:prstGeom>
          <a:noFill/>
        </p:spPr>
        <p:txBody>
          <a:bodyPr wrap="square" rtlCol="0">
            <a:spAutoFit/>
          </a:bodyPr>
          <a:lstStyle/>
          <a:p>
            <a:r>
              <a:rPr lang="en-US" dirty="0"/>
              <a:t>No</a:t>
            </a:r>
          </a:p>
        </p:txBody>
      </p:sp>
      <p:sp>
        <p:nvSpPr>
          <p:cNvPr id="52" name="Rectangle 51">
            <a:extLst>
              <a:ext uri="{FF2B5EF4-FFF2-40B4-BE49-F238E27FC236}">
                <a16:creationId xmlns:a16="http://schemas.microsoft.com/office/drawing/2014/main" id="{B2F12A42-ADC6-4D95-ADBA-696D42DDFBA4}"/>
              </a:ext>
            </a:extLst>
          </p:cNvPr>
          <p:cNvSpPr/>
          <p:nvPr/>
        </p:nvSpPr>
        <p:spPr>
          <a:xfrm>
            <a:off x="5492654" y="5180463"/>
            <a:ext cx="1307909" cy="9164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Ask secret code from the service provider</a:t>
            </a:r>
          </a:p>
        </p:txBody>
      </p:sp>
      <p:sp>
        <p:nvSpPr>
          <p:cNvPr id="54" name="TextBox 53">
            <a:extLst>
              <a:ext uri="{FF2B5EF4-FFF2-40B4-BE49-F238E27FC236}">
                <a16:creationId xmlns:a16="http://schemas.microsoft.com/office/drawing/2014/main" id="{919720FF-E7A3-449F-A695-F28849C6E121}"/>
              </a:ext>
            </a:extLst>
          </p:cNvPr>
          <p:cNvSpPr txBox="1"/>
          <p:nvPr/>
        </p:nvSpPr>
        <p:spPr>
          <a:xfrm>
            <a:off x="3202570" y="4591642"/>
            <a:ext cx="565814" cy="369332"/>
          </a:xfrm>
          <a:prstGeom prst="rect">
            <a:avLst/>
          </a:prstGeom>
          <a:noFill/>
        </p:spPr>
        <p:txBody>
          <a:bodyPr wrap="square" rtlCol="0">
            <a:spAutoFit/>
          </a:bodyPr>
          <a:lstStyle/>
          <a:p>
            <a:r>
              <a:rPr lang="en-US" dirty="0"/>
              <a:t>yes</a:t>
            </a:r>
          </a:p>
        </p:txBody>
      </p:sp>
      <p:sp>
        <p:nvSpPr>
          <p:cNvPr id="55" name="TextBox 54">
            <a:extLst>
              <a:ext uri="{FF2B5EF4-FFF2-40B4-BE49-F238E27FC236}">
                <a16:creationId xmlns:a16="http://schemas.microsoft.com/office/drawing/2014/main" id="{86DD6EAE-9FBA-431E-BD99-3861D08B472C}"/>
              </a:ext>
            </a:extLst>
          </p:cNvPr>
          <p:cNvSpPr txBox="1"/>
          <p:nvPr/>
        </p:nvSpPr>
        <p:spPr>
          <a:xfrm>
            <a:off x="8686221" y="3871710"/>
            <a:ext cx="565814" cy="369332"/>
          </a:xfrm>
          <a:prstGeom prst="rect">
            <a:avLst/>
          </a:prstGeom>
          <a:noFill/>
        </p:spPr>
        <p:txBody>
          <a:bodyPr wrap="square" rtlCol="0">
            <a:spAutoFit/>
          </a:bodyPr>
          <a:lstStyle/>
          <a:p>
            <a:r>
              <a:rPr lang="en-US" dirty="0"/>
              <a:t>yes</a:t>
            </a:r>
          </a:p>
        </p:txBody>
      </p:sp>
      <p:sp>
        <p:nvSpPr>
          <p:cNvPr id="56" name="TextBox 55">
            <a:extLst>
              <a:ext uri="{FF2B5EF4-FFF2-40B4-BE49-F238E27FC236}">
                <a16:creationId xmlns:a16="http://schemas.microsoft.com/office/drawing/2014/main" id="{5A23C1DD-9424-4E66-866A-81168870C49C}"/>
              </a:ext>
            </a:extLst>
          </p:cNvPr>
          <p:cNvSpPr txBox="1"/>
          <p:nvPr/>
        </p:nvSpPr>
        <p:spPr>
          <a:xfrm>
            <a:off x="11790305" y="2213988"/>
            <a:ext cx="565814" cy="369332"/>
          </a:xfrm>
          <a:prstGeom prst="rect">
            <a:avLst/>
          </a:prstGeom>
          <a:noFill/>
        </p:spPr>
        <p:txBody>
          <a:bodyPr wrap="square" rtlCol="0">
            <a:spAutoFit/>
          </a:bodyPr>
          <a:lstStyle/>
          <a:p>
            <a:r>
              <a:rPr lang="en-US" dirty="0"/>
              <a:t>yes</a:t>
            </a:r>
          </a:p>
        </p:txBody>
      </p:sp>
      <p:sp>
        <p:nvSpPr>
          <p:cNvPr id="59" name="TextBox 58">
            <a:extLst>
              <a:ext uri="{FF2B5EF4-FFF2-40B4-BE49-F238E27FC236}">
                <a16:creationId xmlns:a16="http://schemas.microsoft.com/office/drawing/2014/main" id="{A31C23C8-A1D6-4926-8BCD-E57F72B6FABF}"/>
              </a:ext>
            </a:extLst>
          </p:cNvPr>
          <p:cNvSpPr txBox="1"/>
          <p:nvPr/>
        </p:nvSpPr>
        <p:spPr>
          <a:xfrm>
            <a:off x="10560055" y="5197047"/>
            <a:ext cx="565814" cy="369332"/>
          </a:xfrm>
          <a:prstGeom prst="rect">
            <a:avLst/>
          </a:prstGeom>
          <a:noFill/>
        </p:spPr>
        <p:txBody>
          <a:bodyPr wrap="square" rtlCol="0">
            <a:spAutoFit/>
          </a:bodyPr>
          <a:lstStyle/>
          <a:p>
            <a:r>
              <a:rPr lang="en-US" dirty="0"/>
              <a:t>No</a:t>
            </a:r>
          </a:p>
        </p:txBody>
      </p:sp>
      <p:sp>
        <p:nvSpPr>
          <p:cNvPr id="62" name="TextBox 61">
            <a:extLst>
              <a:ext uri="{FF2B5EF4-FFF2-40B4-BE49-F238E27FC236}">
                <a16:creationId xmlns:a16="http://schemas.microsoft.com/office/drawing/2014/main" id="{EA1109A5-D145-4D36-94DF-E0ACE683DBD1}"/>
              </a:ext>
            </a:extLst>
          </p:cNvPr>
          <p:cNvSpPr txBox="1"/>
          <p:nvPr/>
        </p:nvSpPr>
        <p:spPr>
          <a:xfrm>
            <a:off x="7658714" y="1836892"/>
            <a:ext cx="565814" cy="369332"/>
          </a:xfrm>
          <a:prstGeom prst="rect">
            <a:avLst/>
          </a:prstGeom>
          <a:noFill/>
        </p:spPr>
        <p:txBody>
          <a:bodyPr wrap="square" rtlCol="0">
            <a:spAutoFit/>
          </a:bodyPr>
          <a:lstStyle/>
          <a:p>
            <a:r>
              <a:rPr lang="en-US" dirty="0"/>
              <a:t>yes</a:t>
            </a:r>
          </a:p>
        </p:txBody>
      </p:sp>
      <p:sp>
        <p:nvSpPr>
          <p:cNvPr id="63" name="Flowchart: Decision 62">
            <a:extLst>
              <a:ext uri="{FF2B5EF4-FFF2-40B4-BE49-F238E27FC236}">
                <a16:creationId xmlns:a16="http://schemas.microsoft.com/office/drawing/2014/main" id="{C1DD83AA-50F2-4EED-A48D-1BD5BF76339D}"/>
              </a:ext>
            </a:extLst>
          </p:cNvPr>
          <p:cNvSpPr/>
          <p:nvPr/>
        </p:nvSpPr>
        <p:spPr>
          <a:xfrm>
            <a:off x="1373017" y="5268563"/>
            <a:ext cx="2356814" cy="7402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Want to Signup ? </a:t>
            </a:r>
          </a:p>
        </p:txBody>
      </p:sp>
      <p:cxnSp>
        <p:nvCxnSpPr>
          <p:cNvPr id="65" name="Straight Arrow Connector 64">
            <a:extLst>
              <a:ext uri="{FF2B5EF4-FFF2-40B4-BE49-F238E27FC236}">
                <a16:creationId xmlns:a16="http://schemas.microsoft.com/office/drawing/2014/main" id="{EB0E8E8B-11A4-4AF8-8B10-E8ADC5E63B4A}"/>
              </a:ext>
            </a:extLst>
          </p:cNvPr>
          <p:cNvCxnSpPr>
            <a:cxnSpLocks/>
          </p:cNvCxnSpPr>
          <p:nvPr/>
        </p:nvCxnSpPr>
        <p:spPr>
          <a:xfrm flipV="1">
            <a:off x="953228" y="3798338"/>
            <a:ext cx="38757" cy="1832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968B4DE-9F66-49BF-9920-747D81905595}"/>
              </a:ext>
            </a:extLst>
          </p:cNvPr>
          <p:cNvCxnSpPr>
            <a:cxnSpLocks/>
          </p:cNvCxnSpPr>
          <p:nvPr/>
        </p:nvCxnSpPr>
        <p:spPr>
          <a:xfrm>
            <a:off x="972606" y="5630630"/>
            <a:ext cx="433110" cy="0"/>
          </a:xfrm>
          <a:prstGeom prst="line">
            <a:avLst/>
          </a:prstGeom>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8B4B3C30-9EC7-435C-97FE-147952D83F0F}"/>
              </a:ext>
            </a:extLst>
          </p:cNvPr>
          <p:cNvSpPr/>
          <p:nvPr/>
        </p:nvSpPr>
        <p:spPr>
          <a:xfrm>
            <a:off x="423205" y="2844421"/>
            <a:ext cx="1307909" cy="9164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Trigger Signup process</a:t>
            </a:r>
          </a:p>
        </p:txBody>
      </p:sp>
      <p:sp>
        <p:nvSpPr>
          <p:cNvPr id="70" name="TextBox 69">
            <a:extLst>
              <a:ext uri="{FF2B5EF4-FFF2-40B4-BE49-F238E27FC236}">
                <a16:creationId xmlns:a16="http://schemas.microsoft.com/office/drawing/2014/main" id="{B1118519-2AD5-4689-8711-AD8EF5D04F66}"/>
              </a:ext>
            </a:extLst>
          </p:cNvPr>
          <p:cNvSpPr txBox="1"/>
          <p:nvPr/>
        </p:nvSpPr>
        <p:spPr>
          <a:xfrm>
            <a:off x="966718" y="4501611"/>
            <a:ext cx="565814" cy="369332"/>
          </a:xfrm>
          <a:prstGeom prst="rect">
            <a:avLst/>
          </a:prstGeom>
          <a:noFill/>
        </p:spPr>
        <p:txBody>
          <a:bodyPr wrap="square" rtlCol="0">
            <a:spAutoFit/>
          </a:bodyPr>
          <a:lstStyle/>
          <a:p>
            <a:r>
              <a:rPr lang="en-US" dirty="0"/>
              <a:t>yes</a:t>
            </a:r>
          </a:p>
        </p:txBody>
      </p:sp>
      <p:cxnSp>
        <p:nvCxnSpPr>
          <p:cNvPr id="71" name="Straight Arrow Connector 70">
            <a:extLst>
              <a:ext uri="{FF2B5EF4-FFF2-40B4-BE49-F238E27FC236}">
                <a16:creationId xmlns:a16="http://schemas.microsoft.com/office/drawing/2014/main" id="{0E23A6BD-51FC-4663-8D65-0DC3D9DBB0EE}"/>
              </a:ext>
            </a:extLst>
          </p:cNvPr>
          <p:cNvCxnSpPr>
            <a:cxnSpLocks/>
            <a:endCxn id="52" idx="1"/>
          </p:cNvCxnSpPr>
          <p:nvPr/>
        </p:nvCxnSpPr>
        <p:spPr>
          <a:xfrm flipV="1">
            <a:off x="2651368" y="5638678"/>
            <a:ext cx="2841286" cy="775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E25B80DE-32FF-4077-89BE-25E51AA8A8C1}"/>
              </a:ext>
            </a:extLst>
          </p:cNvPr>
          <p:cNvSpPr txBox="1"/>
          <p:nvPr/>
        </p:nvSpPr>
        <p:spPr>
          <a:xfrm>
            <a:off x="4204945" y="5910563"/>
            <a:ext cx="565814" cy="369332"/>
          </a:xfrm>
          <a:prstGeom prst="rect">
            <a:avLst/>
          </a:prstGeom>
          <a:noFill/>
        </p:spPr>
        <p:txBody>
          <a:bodyPr wrap="square" rtlCol="0">
            <a:spAutoFit/>
          </a:bodyPr>
          <a:lstStyle/>
          <a:p>
            <a:r>
              <a:rPr lang="en-US" dirty="0"/>
              <a:t>No</a:t>
            </a:r>
          </a:p>
        </p:txBody>
      </p:sp>
      <p:sp>
        <p:nvSpPr>
          <p:cNvPr id="53" name="TextBox 52">
            <a:extLst>
              <a:ext uri="{FF2B5EF4-FFF2-40B4-BE49-F238E27FC236}">
                <a16:creationId xmlns:a16="http://schemas.microsoft.com/office/drawing/2014/main" id="{0666F9AA-C329-4FD5-A00C-2220E88BB8A9}"/>
              </a:ext>
            </a:extLst>
          </p:cNvPr>
          <p:cNvSpPr txBox="1"/>
          <p:nvPr/>
        </p:nvSpPr>
        <p:spPr>
          <a:xfrm>
            <a:off x="3111103" y="2029322"/>
            <a:ext cx="939343" cy="369332"/>
          </a:xfrm>
          <a:prstGeom prst="rect">
            <a:avLst/>
          </a:prstGeom>
          <a:noFill/>
        </p:spPr>
        <p:txBody>
          <a:bodyPr wrap="square" rtlCol="0">
            <a:spAutoFit/>
          </a:bodyPr>
          <a:lstStyle/>
          <a:p>
            <a:r>
              <a:rPr lang="en-US" dirty="0"/>
              <a:t>Retry</a:t>
            </a:r>
          </a:p>
        </p:txBody>
      </p:sp>
      <p:sp>
        <p:nvSpPr>
          <p:cNvPr id="60" name="Rectangle 59">
            <a:extLst>
              <a:ext uri="{FF2B5EF4-FFF2-40B4-BE49-F238E27FC236}">
                <a16:creationId xmlns:a16="http://schemas.microsoft.com/office/drawing/2014/main" id="{4AC310F9-B4DE-42C5-AD4F-503BF44FD56E}"/>
              </a:ext>
            </a:extLst>
          </p:cNvPr>
          <p:cNvSpPr/>
          <p:nvPr/>
        </p:nvSpPr>
        <p:spPr>
          <a:xfrm>
            <a:off x="5128415" y="3708024"/>
            <a:ext cx="1738958" cy="381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Repeat 3 times </a:t>
            </a:r>
          </a:p>
        </p:txBody>
      </p:sp>
      <p:cxnSp>
        <p:nvCxnSpPr>
          <p:cNvPr id="8" name="Straight Arrow Connector 7">
            <a:extLst>
              <a:ext uri="{FF2B5EF4-FFF2-40B4-BE49-F238E27FC236}">
                <a16:creationId xmlns:a16="http://schemas.microsoft.com/office/drawing/2014/main" id="{94F3FF22-E914-4D99-B6A0-A0B0248623BB}"/>
              </a:ext>
            </a:extLst>
          </p:cNvPr>
          <p:cNvCxnSpPr>
            <a:cxnSpLocks/>
            <a:stCxn id="7" idx="2"/>
          </p:cNvCxnSpPr>
          <p:nvPr/>
        </p:nvCxnSpPr>
        <p:spPr>
          <a:xfrm flipH="1">
            <a:off x="11476383" y="3106766"/>
            <a:ext cx="148196" cy="387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2C336531-94F1-4162-8923-B0C3F11C5179}"/>
              </a:ext>
            </a:extLst>
          </p:cNvPr>
          <p:cNvSpPr/>
          <p:nvPr/>
        </p:nvSpPr>
        <p:spPr>
          <a:xfrm>
            <a:off x="10822674" y="3488093"/>
            <a:ext cx="1307909" cy="14023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User is taken to the next screen from the home screen where from the user avails  some service from the list of the services</a:t>
            </a:r>
          </a:p>
        </p:txBody>
      </p:sp>
      <p:sp>
        <p:nvSpPr>
          <p:cNvPr id="58" name="Flowchart: Decision 57">
            <a:extLst>
              <a:ext uri="{FF2B5EF4-FFF2-40B4-BE49-F238E27FC236}">
                <a16:creationId xmlns:a16="http://schemas.microsoft.com/office/drawing/2014/main" id="{A5BE11C6-BA69-469E-8AA0-07A1D6E8224A}"/>
              </a:ext>
            </a:extLst>
          </p:cNvPr>
          <p:cNvSpPr/>
          <p:nvPr/>
        </p:nvSpPr>
        <p:spPr>
          <a:xfrm>
            <a:off x="4472489" y="2746352"/>
            <a:ext cx="3111689" cy="53246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Did you signup earlier ? </a:t>
            </a:r>
          </a:p>
        </p:txBody>
      </p:sp>
      <p:cxnSp>
        <p:nvCxnSpPr>
          <p:cNvPr id="24" name="Straight Arrow Connector 23">
            <a:extLst>
              <a:ext uri="{FF2B5EF4-FFF2-40B4-BE49-F238E27FC236}">
                <a16:creationId xmlns:a16="http://schemas.microsoft.com/office/drawing/2014/main" id="{D3C8B8C9-1BDF-49E4-83BC-69E1C2F289C8}"/>
              </a:ext>
            </a:extLst>
          </p:cNvPr>
          <p:cNvCxnSpPr>
            <a:cxnSpLocks/>
            <a:stCxn id="58" idx="1"/>
          </p:cNvCxnSpPr>
          <p:nvPr/>
        </p:nvCxnSpPr>
        <p:spPr>
          <a:xfrm flipH="1">
            <a:off x="1767422" y="3012584"/>
            <a:ext cx="2705067" cy="26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4C7AFE9-6655-47B7-8369-D1AB318DE942}"/>
              </a:ext>
            </a:extLst>
          </p:cNvPr>
          <p:cNvCxnSpPr>
            <a:cxnSpLocks/>
            <a:endCxn id="60" idx="0"/>
          </p:cNvCxnSpPr>
          <p:nvPr/>
        </p:nvCxnSpPr>
        <p:spPr>
          <a:xfrm flipH="1">
            <a:off x="5997894" y="3337383"/>
            <a:ext cx="4056" cy="370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771F24D-6049-4169-9D88-AD7625E67D3D}"/>
              </a:ext>
            </a:extLst>
          </p:cNvPr>
          <p:cNvSpPr txBox="1"/>
          <p:nvPr/>
        </p:nvSpPr>
        <p:spPr>
          <a:xfrm>
            <a:off x="6066877" y="3313152"/>
            <a:ext cx="565814" cy="369332"/>
          </a:xfrm>
          <a:prstGeom prst="rect">
            <a:avLst/>
          </a:prstGeom>
          <a:noFill/>
        </p:spPr>
        <p:txBody>
          <a:bodyPr wrap="square" rtlCol="0">
            <a:spAutoFit/>
          </a:bodyPr>
          <a:lstStyle/>
          <a:p>
            <a:r>
              <a:rPr lang="en-US" dirty="0"/>
              <a:t>yes</a:t>
            </a:r>
          </a:p>
        </p:txBody>
      </p:sp>
      <p:cxnSp>
        <p:nvCxnSpPr>
          <p:cNvPr id="38" name="Connector: Curved 37">
            <a:extLst>
              <a:ext uri="{FF2B5EF4-FFF2-40B4-BE49-F238E27FC236}">
                <a16:creationId xmlns:a16="http://schemas.microsoft.com/office/drawing/2014/main" id="{64084DF8-CBE0-44AC-B9FA-A4037C566C41}"/>
              </a:ext>
            </a:extLst>
          </p:cNvPr>
          <p:cNvCxnSpPr>
            <a:cxnSpLocks/>
          </p:cNvCxnSpPr>
          <p:nvPr/>
        </p:nvCxnSpPr>
        <p:spPr>
          <a:xfrm>
            <a:off x="3809042" y="2746350"/>
            <a:ext cx="668049" cy="659085"/>
          </a:xfrm>
          <a:prstGeom prst="curvedConnector3">
            <a:avLst/>
          </a:prstGeom>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9BDB228C-1F00-465B-8728-3A66F915FEDB}"/>
              </a:ext>
            </a:extLst>
          </p:cNvPr>
          <p:cNvCxnSpPr>
            <a:cxnSpLocks/>
            <a:stCxn id="60" idx="1"/>
          </p:cNvCxnSpPr>
          <p:nvPr/>
        </p:nvCxnSpPr>
        <p:spPr>
          <a:xfrm flipH="1" flipV="1">
            <a:off x="4453719" y="3392368"/>
            <a:ext cx="674696" cy="506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F7122E1D-68CD-4D65-97F3-1B9E3AE040CD}"/>
              </a:ext>
            </a:extLst>
          </p:cNvPr>
          <p:cNvCxnSpPr>
            <a:cxnSpLocks/>
          </p:cNvCxnSpPr>
          <p:nvPr/>
        </p:nvCxnSpPr>
        <p:spPr>
          <a:xfrm flipH="1">
            <a:off x="6096000" y="4061029"/>
            <a:ext cx="4056" cy="370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FE24E46-0E46-4C7D-88BC-85D79982C591}"/>
              </a:ext>
            </a:extLst>
          </p:cNvPr>
          <p:cNvCxnSpPr>
            <a:cxnSpLocks/>
            <a:stCxn id="63" idx="2"/>
          </p:cNvCxnSpPr>
          <p:nvPr/>
        </p:nvCxnSpPr>
        <p:spPr>
          <a:xfrm>
            <a:off x="2551424" y="6008792"/>
            <a:ext cx="140030" cy="405260"/>
          </a:xfrm>
          <a:prstGeom prst="line">
            <a:avLst/>
          </a:prstGeom>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CB93E12E-3E41-4601-8E1F-80C5B7D1EFA2}"/>
              </a:ext>
            </a:extLst>
          </p:cNvPr>
          <p:cNvSpPr/>
          <p:nvPr/>
        </p:nvSpPr>
        <p:spPr>
          <a:xfrm>
            <a:off x="8370527" y="1688122"/>
            <a:ext cx="1307909" cy="9164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3 Additional questions </a:t>
            </a:r>
          </a:p>
        </p:txBody>
      </p:sp>
      <p:sp>
        <p:nvSpPr>
          <p:cNvPr id="95" name="Flowchart: Decision 94">
            <a:extLst>
              <a:ext uri="{FF2B5EF4-FFF2-40B4-BE49-F238E27FC236}">
                <a16:creationId xmlns:a16="http://schemas.microsoft.com/office/drawing/2014/main" id="{20398947-0074-4AF7-A4F9-D47418746897}"/>
              </a:ext>
            </a:extLst>
          </p:cNvPr>
          <p:cNvSpPr/>
          <p:nvPr/>
        </p:nvSpPr>
        <p:spPr>
          <a:xfrm>
            <a:off x="10496807" y="1412967"/>
            <a:ext cx="1482119" cy="74022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2 out of 3 match ?</a:t>
            </a:r>
          </a:p>
        </p:txBody>
      </p:sp>
      <p:cxnSp>
        <p:nvCxnSpPr>
          <p:cNvPr id="96" name="Straight Arrow Connector 95">
            <a:extLst>
              <a:ext uri="{FF2B5EF4-FFF2-40B4-BE49-F238E27FC236}">
                <a16:creationId xmlns:a16="http://schemas.microsoft.com/office/drawing/2014/main" id="{C439995D-80B0-414D-AA5A-3461E0892617}"/>
              </a:ext>
            </a:extLst>
          </p:cNvPr>
          <p:cNvCxnSpPr>
            <a:cxnSpLocks/>
            <a:endCxn id="95" idx="1"/>
          </p:cNvCxnSpPr>
          <p:nvPr/>
        </p:nvCxnSpPr>
        <p:spPr>
          <a:xfrm flipV="1">
            <a:off x="9694702" y="1783082"/>
            <a:ext cx="802105" cy="246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24D8F4B2-CD1B-4534-843D-BD2CB2CA9D2A}"/>
              </a:ext>
            </a:extLst>
          </p:cNvPr>
          <p:cNvCxnSpPr>
            <a:stCxn id="95" idx="3"/>
          </p:cNvCxnSpPr>
          <p:nvPr/>
        </p:nvCxnSpPr>
        <p:spPr>
          <a:xfrm flipH="1">
            <a:off x="11728174" y="1783082"/>
            <a:ext cx="250752" cy="963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BE34F63-65FA-4EA6-8F95-2316AED640E3}"/>
              </a:ext>
            </a:extLst>
          </p:cNvPr>
          <p:cNvCxnSpPr>
            <a:stCxn id="95" idx="2"/>
          </p:cNvCxnSpPr>
          <p:nvPr/>
        </p:nvCxnSpPr>
        <p:spPr>
          <a:xfrm flipH="1">
            <a:off x="10095754" y="2153196"/>
            <a:ext cx="1142113" cy="26445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1D69A54-4FBD-4077-8D6D-104D22226727}"/>
              </a:ext>
            </a:extLst>
          </p:cNvPr>
          <p:cNvCxnSpPr>
            <a:endCxn id="18" idx="0"/>
          </p:cNvCxnSpPr>
          <p:nvPr/>
        </p:nvCxnSpPr>
        <p:spPr>
          <a:xfrm>
            <a:off x="10095754" y="4776308"/>
            <a:ext cx="653955" cy="952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559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848A-DF97-4F38-AFEC-26EBE336AC70}"/>
              </a:ext>
            </a:extLst>
          </p:cNvPr>
          <p:cNvSpPr>
            <a:spLocks noGrp="1"/>
          </p:cNvSpPr>
          <p:nvPr>
            <p:ph type="ctrTitle"/>
          </p:nvPr>
        </p:nvSpPr>
        <p:spPr>
          <a:xfrm>
            <a:off x="0" y="0"/>
            <a:ext cx="12192000" cy="397565"/>
          </a:xfrm>
          <a:solidFill>
            <a:schemeClr val="accent2"/>
          </a:solidFill>
        </p:spPr>
        <p:txBody>
          <a:bodyPr>
            <a:normAutofit/>
          </a:bodyPr>
          <a:lstStyle/>
          <a:p>
            <a:r>
              <a:rPr lang="en-US" sz="2200" b="1" dirty="0">
                <a:solidFill>
                  <a:schemeClr val="bg1"/>
                </a:solidFill>
              </a:rPr>
              <a:t>Max Empathy Switch</a:t>
            </a:r>
          </a:p>
        </p:txBody>
      </p:sp>
      <p:sp>
        <p:nvSpPr>
          <p:cNvPr id="42" name="TextBox 41">
            <a:extLst>
              <a:ext uri="{FF2B5EF4-FFF2-40B4-BE49-F238E27FC236}">
                <a16:creationId xmlns:a16="http://schemas.microsoft.com/office/drawing/2014/main" id="{7D965C7E-3CB7-4D36-B6C7-34FCD0D599C7}"/>
              </a:ext>
            </a:extLst>
          </p:cNvPr>
          <p:cNvSpPr txBox="1"/>
          <p:nvPr/>
        </p:nvSpPr>
        <p:spPr>
          <a:xfrm>
            <a:off x="218364" y="1105469"/>
            <a:ext cx="11723427" cy="1477328"/>
          </a:xfrm>
          <a:prstGeom prst="rect">
            <a:avLst/>
          </a:prstGeom>
          <a:noFill/>
        </p:spPr>
        <p:txBody>
          <a:bodyPr wrap="square" rtlCol="0">
            <a:spAutoFit/>
          </a:bodyPr>
          <a:lstStyle/>
          <a:p>
            <a:r>
              <a:rPr lang="en-US" dirty="0"/>
              <a:t>What is Max Empathy Button ? : It is a single button voice accessibility for elderly people. </a:t>
            </a:r>
          </a:p>
          <a:p>
            <a:endParaRPr lang="en-US" dirty="0"/>
          </a:p>
          <a:p>
            <a:r>
              <a:rPr lang="en-US" dirty="0"/>
              <a:t>Goal:</a:t>
            </a:r>
          </a:p>
          <a:p>
            <a:pPr marL="742950" lvl="1" indent="-285750">
              <a:buFont typeface="Arial" panose="020B0604020202020204" pitchFamily="34" charset="0"/>
              <a:buChar char="•"/>
            </a:pPr>
            <a:r>
              <a:rPr lang="en-US" dirty="0"/>
              <a:t>By pressing this button, user will be asked if Signup is done or not. If signup is not done , directly take to the signup phase, if signup is done , take to Login workflow for sign-in. </a:t>
            </a:r>
          </a:p>
        </p:txBody>
      </p:sp>
    </p:spTree>
    <p:extLst>
      <p:ext uri="{BB962C8B-B14F-4D97-AF65-F5344CB8AC3E}">
        <p14:creationId xmlns:p14="http://schemas.microsoft.com/office/powerpoint/2010/main" val="629177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848A-DF97-4F38-AFEC-26EBE336AC70}"/>
              </a:ext>
            </a:extLst>
          </p:cNvPr>
          <p:cNvSpPr>
            <a:spLocks noGrp="1"/>
          </p:cNvSpPr>
          <p:nvPr>
            <p:ph type="ctrTitle"/>
          </p:nvPr>
        </p:nvSpPr>
        <p:spPr>
          <a:xfrm>
            <a:off x="0" y="0"/>
            <a:ext cx="12192000" cy="397565"/>
          </a:xfrm>
          <a:solidFill>
            <a:schemeClr val="accent2"/>
          </a:solidFill>
        </p:spPr>
        <p:txBody>
          <a:bodyPr>
            <a:normAutofit/>
          </a:bodyPr>
          <a:lstStyle/>
          <a:p>
            <a:r>
              <a:rPr lang="en-US" sz="2200" b="1" dirty="0">
                <a:solidFill>
                  <a:schemeClr val="bg1"/>
                </a:solidFill>
              </a:rPr>
              <a:t>Use-case</a:t>
            </a:r>
          </a:p>
        </p:txBody>
      </p:sp>
    </p:spTree>
    <p:extLst>
      <p:ext uri="{BB962C8B-B14F-4D97-AF65-F5344CB8AC3E}">
        <p14:creationId xmlns:p14="http://schemas.microsoft.com/office/powerpoint/2010/main" val="1139295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2127</TotalTime>
  <Words>1637</Words>
  <Application>Microsoft Office PowerPoint</Application>
  <PresentationFormat>Widescreen</PresentationFormat>
  <Paragraphs>125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Voice Accessible Web Application : Requirement Document </vt:lpstr>
      <vt:lpstr>Standard alignment: Sample Clauses of PAS Guidelines</vt:lpstr>
      <vt:lpstr>High Level Architecture Guideline</vt:lpstr>
      <vt:lpstr>Home Page Design Visual Reference </vt:lpstr>
      <vt:lpstr>Signup </vt:lpstr>
      <vt:lpstr>Signin </vt:lpstr>
      <vt:lpstr>Login Workflow</vt:lpstr>
      <vt:lpstr>Max Empathy Switch</vt:lpstr>
      <vt:lpstr>Use-case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 UI</dc:title>
  <dc:creator>DELL</dc:creator>
  <cp:lastModifiedBy>DELL</cp:lastModifiedBy>
  <cp:revision>45</cp:revision>
  <dcterms:created xsi:type="dcterms:W3CDTF">2026-07-15T06:21:37Z</dcterms:created>
  <dcterms:modified xsi:type="dcterms:W3CDTF">2026-07-16T18:34:08Z</dcterms:modified>
</cp:coreProperties>
</file>